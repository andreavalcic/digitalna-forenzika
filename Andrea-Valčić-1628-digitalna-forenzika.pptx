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8" r:id="rId4"/>
    <p:sldId id="258" r:id="rId5"/>
    <p:sldId id="294" r:id="rId6"/>
    <p:sldId id="272" r:id="rId7"/>
    <p:sldId id="281" r:id="rId8"/>
    <p:sldId id="275" r:id="rId9"/>
    <p:sldId id="283" r:id="rId10"/>
    <p:sldId id="293" r:id="rId11"/>
    <p:sldId id="284" r:id="rId12"/>
    <p:sldId id="295" r:id="rId13"/>
    <p:sldId id="296" r:id="rId14"/>
    <p:sldId id="297" r:id="rId15"/>
    <p:sldId id="298" r:id="rId16"/>
    <p:sldId id="292" r:id="rId17"/>
    <p:sldId id="286" r:id="rId18"/>
    <p:sldId id="299" r:id="rId19"/>
    <p:sldId id="278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60"/>
    <p:restoredTop sz="92027"/>
  </p:normalViewPr>
  <p:slideViewPr>
    <p:cSldViewPr snapToGrid="0">
      <p:cViewPr varScale="1">
        <p:scale>
          <a:sx n="130" d="100"/>
          <a:sy n="130" d="100"/>
        </p:scale>
        <p:origin x="9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6AC68-E449-5E49-861F-DE07525DDEB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EC29E-8CFF-4448-99C4-07B3E615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0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858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27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9E77D-7DDB-EB56-591E-B41AF7E6E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44246-757E-6350-D26A-0F5C00AF4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5C1C3-2BAA-E4D2-BD4D-8100D1475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F85D8-6361-4154-B820-6573E68EB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79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16ED-54A4-D78E-42D7-70EA49FB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4661A-B049-241A-F82B-BA534BF34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504EB-DEFE-2E81-7AA4-22B98B2B6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F8FC7-BA22-72CC-327B-5D8C963AF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20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1CFF-2C12-51D9-0BAD-97153995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873C2-4084-A814-E276-471403597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CEAA8-5E02-B66A-2B3D-8BED7E9DC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40F20-FA46-FE36-BF35-B7149B418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36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2EA1-99F7-2A00-1264-92D4200B3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E3CCB-EFA5-5963-38DD-6794AF315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FE1E7-85A2-E5C5-6B60-34A6A4C43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23DF3-BAFC-AAD5-1579-EB47C600D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6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22C5D-23AA-0214-9524-A0061955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C40AF-4F63-23FE-5442-B8F03D3C9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5927B-AF2B-9330-D459-1BE4C654C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89989-FF7E-0290-E506-8D94C1968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52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76912-60EE-03B5-7B99-CB81EED1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CD765-A944-73AC-123A-B66D2B64F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2D7D1-F3C4-FC8B-AEBA-AB3E9827D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854A2-1BCF-C40F-1DC0-178A538B7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92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4F63E-34CC-5732-05A8-0D226A0E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F486D-56BC-BF6F-27F5-B81325270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03B8C-C441-9688-BF9E-764BBB344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86C2F-BFBA-5137-CF0A-D8861499E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15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11FED-8268-519E-7E14-53904D85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9AD66-827E-1F01-1E34-99347A443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02AD9-2F07-7701-BD25-DFC630CE4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21811-673C-EE66-D146-B05B5EAB3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54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D5F94-DD07-B199-7352-3462CEB58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46258-7E86-7FF2-79C9-CB89B3CF8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4E7C1-4336-99F3-20ED-56308BBB6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4036E-E156-DCB5-EDA6-6EFD6E095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481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6A1D-D663-F11A-7D23-56C73D4AE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8BDB1-37C1-E3EB-994C-D2732B592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F2D5D-C64B-EADF-CBDC-589ECBCE5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DE20A-43F9-E231-0D87-84E4CA2EF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43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4A131-9FEA-9986-6696-DE30EF05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00C63-8B63-166E-C8C8-9E18B0BB4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A4C57-7B4F-0EF7-EB0B-3F946319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3D627-4C04-0FC4-B9BC-AEEBF317E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EC29E-8CFF-4448-99C4-07B3E6156C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54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8FC88B-9BBF-27A3-DDB2-1C1A8F1DA13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522075" y="63500"/>
            <a:ext cx="631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Proprietary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1A01-8CB7-A598-6DF1-F5D322EDD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6" y="1968874"/>
            <a:ext cx="8361229" cy="2098226"/>
          </a:xfrm>
        </p:spPr>
        <p:txBody>
          <a:bodyPr/>
          <a:lstStyle/>
          <a:p>
            <a:r>
              <a:rPr lang="en-US" sz="2600" b="1" dirty="0"/>
              <a:t>STEGANOGRAFIJA U QR KODOVIMA</a:t>
            </a:r>
            <a:br>
              <a:rPr lang="en-US" sz="2600" b="1" dirty="0"/>
            </a:br>
            <a:endParaRPr lang="en-US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99B67-63B3-EF71-5F5E-3BEF4C7EB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9313" y="4069685"/>
            <a:ext cx="2431569" cy="1076572"/>
          </a:xfrm>
        </p:spPr>
        <p:txBody>
          <a:bodyPr>
            <a:normAutofit/>
          </a:bodyPr>
          <a:lstStyle/>
          <a:p>
            <a:pPr algn="l"/>
            <a:r>
              <a:rPr lang="en-US" sz="1400" dirty="0"/>
              <a:t>Student:</a:t>
            </a:r>
          </a:p>
          <a:p>
            <a:pPr algn="l"/>
            <a:r>
              <a:rPr lang="en-US" sz="1400" dirty="0"/>
              <a:t>Andrea </a:t>
            </a:r>
            <a:r>
              <a:rPr lang="en-US" sz="1400" dirty="0" err="1"/>
              <a:t>Valčić</a:t>
            </a:r>
            <a:r>
              <a:rPr lang="en-US" sz="1400" dirty="0"/>
              <a:t>, br. Ind. 1928 </a:t>
            </a:r>
          </a:p>
          <a:p>
            <a:pPr algn="l"/>
            <a:endParaRPr lang="en-US" sz="1400" dirty="0"/>
          </a:p>
          <a:p>
            <a:pPr algn="l"/>
            <a:endParaRPr lang="en-US" sz="14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42C5F77-F833-8055-81E4-229F2033CB2B}"/>
              </a:ext>
            </a:extLst>
          </p:cNvPr>
          <p:cNvSpPr txBox="1">
            <a:spLocks/>
          </p:cNvSpPr>
          <p:nvPr/>
        </p:nvSpPr>
        <p:spPr>
          <a:xfrm>
            <a:off x="8718698" y="4067100"/>
            <a:ext cx="2208077" cy="1076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 err="1"/>
              <a:t>Profesori</a:t>
            </a:r>
            <a:r>
              <a:rPr lang="en-US" sz="1400" dirty="0"/>
              <a:t>:</a:t>
            </a:r>
          </a:p>
          <a:p>
            <a:pPr algn="l"/>
            <a:r>
              <a:rPr lang="en-US" sz="1400" dirty="0"/>
              <a:t>prof. dr Dejan Rančić</a:t>
            </a:r>
          </a:p>
          <a:p>
            <a:pPr algn="l"/>
            <a:r>
              <a:rPr lang="en-US" sz="1400" dirty="0"/>
              <a:t>prof. dr Bratislav Predić</a:t>
            </a:r>
          </a:p>
          <a:p>
            <a:pPr algn="l"/>
            <a:endParaRPr lang="en-US" sz="1400" dirty="0"/>
          </a:p>
          <a:p>
            <a:pPr algn="l"/>
            <a:endParaRPr lang="en-US" sz="1400" dirty="0"/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98C0B7A9-C253-BA36-20FA-A046478750F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063180" y="1160949"/>
            <a:ext cx="863600" cy="863600"/>
          </a:xfrm>
          <a:prstGeom prst="rect">
            <a:avLst/>
          </a:prstGeom>
        </p:spPr>
      </p:pic>
      <p:pic>
        <p:nvPicPr>
          <p:cNvPr id="7" name="image2.png">
            <a:extLst>
              <a:ext uri="{FF2B5EF4-FFF2-40B4-BE49-F238E27FC236}">
                <a16:creationId xmlns:a16="http://schemas.microsoft.com/office/drawing/2014/main" id="{3F2C6A83-B629-3FFC-5331-15DB45640A9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64705" y="1186349"/>
            <a:ext cx="837565" cy="8382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7F9EA70E-44F4-B52B-74A1-928071627003}"/>
              </a:ext>
            </a:extLst>
          </p:cNvPr>
          <p:cNvSpPr txBox="1">
            <a:spLocks/>
          </p:cNvSpPr>
          <p:nvPr/>
        </p:nvSpPr>
        <p:spPr>
          <a:xfrm>
            <a:off x="4346492" y="1250168"/>
            <a:ext cx="3498499" cy="1076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UNIVERZITET U NIŠU </a:t>
            </a:r>
          </a:p>
          <a:p>
            <a:r>
              <a:rPr lang="en-US" sz="1400" dirty="0"/>
              <a:t>ELEKTRONSKI FAKULTET </a:t>
            </a:r>
          </a:p>
        </p:txBody>
      </p:sp>
    </p:spTree>
    <p:extLst>
      <p:ext uri="{BB962C8B-B14F-4D97-AF65-F5344CB8AC3E}">
        <p14:creationId xmlns:p14="http://schemas.microsoft.com/office/powerpoint/2010/main" val="308153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D774-CA30-DE6C-DF3D-645FF6F6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07065"/>
          </a:xfrm>
        </p:spPr>
        <p:txBody>
          <a:bodyPr>
            <a:normAutofit/>
          </a:bodyPr>
          <a:lstStyle/>
          <a:p>
            <a:r>
              <a:rPr lang="en-US" b="1" dirty="0" err="1"/>
              <a:t>Sadržaj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41C5-58C8-F40E-2465-198735117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103120"/>
            <a:ext cx="9379131" cy="3825898"/>
          </a:xfrm>
        </p:spPr>
        <p:txBody>
          <a:bodyPr>
            <a:noAutofit/>
          </a:bodyPr>
          <a:lstStyle/>
          <a:p>
            <a:r>
              <a:rPr lang="en-US" dirty="0" err="1"/>
              <a:t>Steganografija</a:t>
            </a:r>
            <a:endParaRPr lang="en-US" dirty="0"/>
          </a:p>
          <a:p>
            <a:r>
              <a:rPr lang="en-US" dirty="0"/>
              <a:t>QR </a:t>
            </a:r>
            <a:r>
              <a:rPr lang="en-US" dirty="0" err="1"/>
              <a:t>kodovi</a:t>
            </a:r>
            <a:endParaRPr lang="en-US" dirty="0"/>
          </a:p>
          <a:p>
            <a:r>
              <a:rPr lang="en-US" dirty="0"/>
              <a:t>LSB </a:t>
            </a:r>
            <a:r>
              <a:rPr lang="en-US" dirty="0" err="1"/>
              <a:t>steganografija</a:t>
            </a:r>
            <a:endParaRPr lang="en-US" dirty="0"/>
          </a:p>
          <a:p>
            <a:r>
              <a:rPr lang="en-US" dirty="0" err="1"/>
              <a:t>Implementacija</a:t>
            </a:r>
            <a:endParaRPr lang="en-US" dirty="0"/>
          </a:p>
          <a:p>
            <a:r>
              <a:rPr lang="en-US" dirty="0"/>
              <a:t>Rezultati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analiza</a:t>
            </a:r>
            <a:endParaRPr lang="en-US" dirty="0"/>
          </a:p>
          <a:p>
            <a:r>
              <a:rPr lang="en-US" dirty="0" err="1"/>
              <a:t>Zaključak</a:t>
            </a:r>
            <a:endParaRPr lang="en-US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97683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53285-FCB4-6841-C2E8-82417A3C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CCC26-E81B-1345-62D9-CC20DCDB9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21" y="1480930"/>
            <a:ext cx="6511593" cy="38485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 </a:t>
            </a:r>
            <a:r>
              <a:rPr lang="en-US" sz="6600" dirty="0" err="1"/>
              <a:t>Steganografija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7396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0383C-14D4-4F1B-06F8-3F92A32C2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22DBF-DBC9-E1CE-7976-51615464B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 err="1"/>
              <a:t>Definicija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podela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7AE00-E648-5E2E-5537-01EA31FFF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1" y="1743891"/>
            <a:ext cx="10303199" cy="442830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r>
              <a:rPr lang="en-US" sz="1400" i="1" dirty="0" err="1"/>
              <a:t>steganos</a:t>
            </a:r>
            <a:r>
              <a:rPr lang="en-US" sz="1400" dirty="0"/>
              <a:t> (</a:t>
            </a:r>
            <a:r>
              <a:rPr lang="en-US" sz="1400" dirty="0" err="1"/>
              <a:t>skriven</a:t>
            </a:r>
            <a:r>
              <a:rPr lang="en-US" sz="1400" dirty="0"/>
              <a:t>) &amp; </a:t>
            </a:r>
            <a:r>
              <a:rPr lang="en-US" sz="1400" i="1" dirty="0" err="1"/>
              <a:t>graphia</a:t>
            </a:r>
            <a:r>
              <a:rPr lang="en-US" sz="1400" dirty="0"/>
              <a:t> (</a:t>
            </a:r>
            <a:r>
              <a:rPr lang="en-US" sz="1400" dirty="0" err="1"/>
              <a:t>pisanje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endParaRPr lang="en-US" sz="1400" i="1" dirty="0"/>
          </a:p>
          <a:p>
            <a:r>
              <a:rPr lang="en-US" sz="1400" i="1" dirty="0" err="1"/>
              <a:t>Skrivanje</a:t>
            </a:r>
            <a:r>
              <a:rPr lang="en-US" sz="1400" i="1" dirty="0"/>
              <a:t> </a:t>
            </a:r>
            <a:r>
              <a:rPr lang="en-US" sz="1400" i="1" dirty="0" err="1"/>
              <a:t>tajne</a:t>
            </a:r>
            <a:r>
              <a:rPr lang="en-US" sz="1400" i="1" dirty="0"/>
              <a:t> </a:t>
            </a:r>
            <a:r>
              <a:rPr lang="en-US" sz="1400" i="1" dirty="0" err="1"/>
              <a:t>informacije</a:t>
            </a:r>
            <a:r>
              <a:rPr lang="en-US" sz="1400" i="1" dirty="0"/>
              <a:t> </a:t>
            </a:r>
            <a:r>
              <a:rPr lang="en-US" sz="1400" i="1" dirty="0" err="1"/>
              <a:t>unutar</a:t>
            </a:r>
            <a:r>
              <a:rPr lang="en-US" sz="1400" i="1" dirty="0"/>
              <a:t> </a:t>
            </a:r>
            <a:r>
              <a:rPr lang="en-US" sz="1400" i="1" dirty="0" err="1"/>
              <a:t>digitalnog</a:t>
            </a:r>
            <a:r>
              <a:rPr lang="en-US" sz="1400" i="1" dirty="0"/>
              <a:t> </a:t>
            </a:r>
            <a:r>
              <a:rPr lang="en-US" sz="1400" i="1" dirty="0" err="1"/>
              <a:t>medija</a:t>
            </a:r>
            <a:r>
              <a:rPr lang="en-US" sz="1400" i="1" dirty="0"/>
              <a:t> ( </a:t>
            </a:r>
            <a:r>
              <a:rPr lang="en-US" sz="1400" i="1" dirty="0" err="1"/>
              <a:t>slike</a:t>
            </a:r>
            <a:r>
              <a:rPr lang="en-US" sz="1400" i="1" dirty="0"/>
              <a:t>, audio </a:t>
            </a:r>
            <a:r>
              <a:rPr lang="en-US" sz="1400" i="1" dirty="0" err="1"/>
              <a:t>ili</a:t>
            </a:r>
            <a:r>
              <a:rPr lang="en-US" sz="1400" i="1" dirty="0"/>
              <a:t> video </a:t>
            </a:r>
            <a:r>
              <a:rPr lang="en-US" sz="1400" i="1" dirty="0" err="1"/>
              <a:t>zapisa</a:t>
            </a:r>
            <a:r>
              <a:rPr lang="en-US" sz="1400" i="1" dirty="0"/>
              <a:t>)  </a:t>
            </a:r>
            <a:r>
              <a:rPr lang="en-US" sz="1400" i="1" dirty="0" err="1"/>
              <a:t>tako</a:t>
            </a:r>
            <a:r>
              <a:rPr lang="en-US" sz="1400" i="1" dirty="0"/>
              <a:t> da </a:t>
            </a:r>
            <a:r>
              <a:rPr lang="en-US" sz="1400" i="1" dirty="0" err="1"/>
              <a:t>njeno</a:t>
            </a:r>
            <a:r>
              <a:rPr lang="en-US" sz="1400" i="1" dirty="0"/>
              <a:t> </a:t>
            </a:r>
            <a:r>
              <a:rPr lang="en-US" sz="1400" i="1" dirty="0" err="1"/>
              <a:t>prisustvo</a:t>
            </a:r>
            <a:r>
              <a:rPr lang="en-US" sz="1400" i="1" dirty="0"/>
              <a:t> </a:t>
            </a:r>
            <a:r>
              <a:rPr lang="en-US" sz="1400" i="1" dirty="0" err="1"/>
              <a:t>ostane</a:t>
            </a:r>
            <a:r>
              <a:rPr lang="en-US" sz="1400" i="1" dirty="0"/>
              <a:t> </a:t>
            </a:r>
            <a:r>
              <a:rPr lang="en-US" sz="1400" i="1" dirty="0" err="1"/>
              <a:t>neprimetno</a:t>
            </a:r>
            <a:br>
              <a:rPr lang="en-US" sz="1400" i="1" dirty="0"/>
            </a:br>
            <a:endParaRPr lang="en-US" sz="1400" i="1" dirty="0"/>
          </a:p>
          <a:p>
            <a:r>
              <a:rPr lang="en-US" sz="1400" dirty="0" err="1"/>
              <a:t>Kategorije</a:t>
            </a:r>
            <a:r>
              <a:rPr lang="en-US" sz="1400" dirty="0"/>
              <a:t>:</a:t>
            </a:r>
          </a:p>
          <a:p>
            <a:pPr lvl="1"/>
            <a:r>
              <a:rPr lang="en-US" sz="1400" i="0" dirty="0" err="1"/>
              <a:t>vizuelna</a:t>
            </a:r>
            <a:endParaRPr lang="en-US" sz="1400" i="0" dirty="0"/>
          </a:p>
          <a:p>
            <a:pPr lvl="1"/>
            <a:r>
              <a:rPr lang="en-US" sz="1400" i="0" dirty="0"/>
              <a:t>audio</a:t>
            </a:r>
          </a:p>
          <a:p>
            <a:pPr lvl="1"/>
            <a:r>
              <a:rPr lang="en-US" sz="1400" i="0" dirty="0" err="1"/>
              <a:t>tekstualna</a:t>
            </a:r>
            <a:endParaRPr lang="en-US" sz="1400" i="0" dirty="0"/>
          </a:p>
          <a:p>
            <a:pPr lvl="1"/>
            <a:r>
              <a:rPr lang="en-US" sz="1400" i="0" dirty="0" err="1"/>
              <a:t>steganografija</a:t>
            </a:r>
            <a:r>
              <a:rPr lang="en-US" sz="1400" i="0" dirty="0"/>
              <a:t> u </a:t>
            </a:r>
            <a:r>
              <a:rPr lang="en-US" sz="1400" i="0" dirty="0" err="1"/>
              <a:t>protokolima</a:t>
            </a:r>
            <a:endParaRPr lang="en-US" sz="1400" i="0" dirty="0"/>
          </a:p>
          <a:p>
            <a:pPr lvl="1"/>
            <a:endParaRPr lang="en-US" sz="1400" i="0" dirty="0"/>
          </a:p>
        </p:txBody>
      </p:sp>
    </p:spTree>
    <p:extLst>
      <p:ext uri="{BB962C8B-B14F-4D97-AF65-F5344CB8AC3E}">
        <p14:creationId xmlns:p14="http://schemas.microsoft.com/office/powerpoint/2010/main" val="360401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ADB8B-F0E3-5014-9A71-2CBDD3786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8BFE-077E-4A1D-47B1-0769F42A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 err="1"/>
              <a:t>Poređenje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kriptografija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primena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F0479-4946-7BD4-B2D5-489506A66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1" y="1743891"/>
            <a:ext cx="10303199" cy="442830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r>
              <a:rPr lang="en-US" sz="1400" dirty="0" err="1"/>
              <a:t>Steganografija</a:t>
            </a:r>
            <a:r>
              <a:rPr lang="en-US" sz="1400" dirty="0"/>
              <a:t> vs </a:t>
            </a:r>
            <a:r>
              <a:rPr lang="en-US" sz="1400" dirty="0" err="1"/>
              <a:t>Kriptografija</a:t>
            </a:r>
            <a:endParaRPr lang="en-US" sz="1400" i="1" dirty="0"/>
          </a:p>
          <a:p>
            <a:pPr lvl="1"/>
            <a:r>
              <a:rPr lang="en-US" sz="1400" dirty="0" err="1"/>
              <a:t>Kriptografija</a:t>
            </a:r>
            <a:r>
              <a:rPr lang="en-US" sz="1400" dirty="0"/>
              <a:t>: </a:t>
            </a:r>
            <a:r>
              <a:rPr lang="en-US" sz="1400" i="0" dirty="0" err="1"/>
              <a:t>poruka</a:t>
            </a:r>
            <a:r>
              <a:rPr lang="en-US" sz="1400" i="0" dirty="0"/>
              <a:t> je </a:t>
            </a:r>
            <a:r>
              <a:rPr lang="en-US" sz="1400" i="0" dirty="0" err="1"/>
              <a:t>vidljiva</a:t>
            </a:r>
            <a:r>
              <a:rPr lang="en-US" sz="1400" i="0" dirty="0"/>
              <a:t>, </a:t>
            </a:r>
            <a:r>
              <a:rPr lang="en-US" sz="1400" i="0" dirty="0" err="1"/>
              <a:t>sadržaj</a:t>
            </a:r>
            <a:r>
              <a:rPr lang="en-US" sz="1400" i="0" dirty="0"/>
              <a:t> </a:t>
            </a:r>
            <a:r>
              <a:rPr lang="en-US" sz="1400" i="0" dirty="0" err="1"/>
              <a:t>nije</a:t>
            </a:r>
            <a:r>
              <a:rPr lang="en-US" sz="1400" i="0" dirty="0"/>
              <a:t> </a:t>
            </a:r>
            <a:r>
              <a:rPr lang="en-US" sz="1400" i="0" dirty="0" err="1"/>
              <a:t>čitljiv</a:t>
            </a:r>
            <a:r>
              <a:rPr lang="en-US" sz="1400" i="0" dirty="0"/>
              <a:t> </a:t>
            </a:r>
          </a:p>
          <a:p>
            <a:pPr lvl="1"/>
            <a:r>
              <a:rPr lang="en-US" sz="1400" dirty="0" err="1"/>
              <a:t>Steganografija</a:t>
            </a:r>
            <a:r>
              <a:rPr lang="en-US" sz="1400" dirty="0"/>
              <a:t>: </a:t>
            </a:r>
            <a:r>
              <a:rPr lang="en-US" sz="1400" dirty="0" err="1"/>
              <a:t>postojanje</a:t>
            </a:r>
            <a:r>
              <a:rPr lang="en-US" sz="1400" dirty="0"/>
              <a:t> </a:t>
            </a:r>
            <a:r>
              <a:rPr lang="en-US" sz="1400" dirty="0" err="1"/>
              <a:t>poruke</a:t>
            </a:r>
            <a:r>
              <a:rPr lang="en-US" sz="1400" dirty="0"/>
              <a:t> je </a:t>
            </a:r>
            <a:r>
              <a:rPr lang="en-US" sz="1400" dirty="0" err="1"/>
              <a:t>skriveno</a:t>
            </a:r>
            <a:br>
              <a:rPr lang="en-US" sz="1400" i="1" dirty="0"/>
            </a:br>
            <a:endParaRPr lang="en-US" sz="1400" i="1" dirty="0"/>
          </a:p>
          <a:p>
            <a:r>
              <a:rPr lang="en-US" sz="1400" dirty="0" err="1"/>
              <a:t>Primena</a:t>
            </a:r>
            <a:r>
              <a:rPr lang="en-US" sz="1400" dirty="0"/>
              <a:t> u </a:t>
            </a:r>
            <a:r>
              <a:rPr lang="en-US" sz="1400" dirty="0" err="1"/>
              <a:t>forenzici</a:t>
            </a:r>
            <a:r>
              <a:rPr lang="en-US" sz="1400" dirty="0"/>
              <a:t>:</a:t>
            </a:r>
          </a:p>
          <a:p>
            <a:pPr lvl="1"/>
            <a:r>
              <a:rPr lang="en-US" sz="1400" dirty="0" err="1"/>
              <a:t>Zloupotreba</a:t>
            </a:r>
            <a:r>
              <a:rPr lang="en-US" sz="1400" dirty="0"/>
              <a:t>: </a:t>
            </a:r>
            <a:r>
              <a:rPr lang="en-US" sz="1400" i="0" dirty="0" err="1"/>
              <a:t>eksfiltracija</a:t>
            </a:r>
            <a:r>
              <a:rPr lang="en-US" sz="1400" i="0" dirty="0"/>
              <a:t> </a:t>
            </a:r>
            <a:r>
              <a:rPr lang="en-US" sz="1400" i="0" dirty="0" err="1"/>
              <a:t>podataka</a:t>
            </a:r>
            <a:r>
              <a:rPr lang="en-US" sz="1400" i="0" dirty="0"/>
              <a:t>, </a:t>
            </a:r>
            <a:r>
              <a:rPr lang="en-US" sz="1400" i="0" dirty="0" err="1"/>
              <a:t>prikrivanje</a:t>
            </a:r>
            <a:r>
              <a:rPr lang="en-US" sz="1400" i="0" dirty="0"/>
              <a:t> </a:t>
            </a:r>
            <a:r>
              <a:rPr lang="en-US" sz="1400" i="0" dirty="0" err="1"/>
              <a:t>aktivnosti</a:t>
            </a:r>
            <a:r>
              <a:rPr lang="en-US" sz="1400" i="0" dirty="0"/>
              <a:t> </a:t>
            </a:r>
          </a:p>
          <a:p>
            <a:pPr lvl="1"/>
            <a:r>
              <a:rPr lang="en-US" sz="1400" dirty="0" err="1"/>
              <a:t>Istraga</a:t>
            </a:r>
            <a:r>
              <a:rPr lang="en-US" sz="1400" dirty="0"/>
              <a:t>: </a:t>
            </a:r>
            <a:r>
              <a:rPr lang="en-US" sz="1400" i="0" dirty="0" err="1"/>
              <a:t>detekcija</a:t>
            </a:r>
            <a:r>
              <a:rPr lang="en-US" sz="1400" i="0" dirty="0"/>
              <a:t> </a:t>
            </a:r>
            <a:r>
              <a:rPr lang="en-US" sz="1400" i="0" dirty="0" err="1"/>
              <a:t>skrivenog</a:t>
            </a:r>
            <a:r>
              <a:rPr lang="en-US" sz="1400" i="0" dirty="0"/>
              <a:t> </a:t>
            </a:r>
            <a:r>
              <a:rPr lang="en-US" sz="1400" i="0" dirty="0" err="1"/>
              <a:t>sadržaja</a:t>
            </a:r>
            <a:r>
              <a:rPr lang="en-US" sz="1400" i="0" dirty="0"/>
              <a:t> u </a:t>
            </a:r>
            <a:r>
              <a:rPr lang="en-US" sz="1400" i="0" dirty="0" err="1"/>
              <a:t>digitalnim</a:t>
            </a:r>
            <a:r>
              <a:rPr lang="en-US" sz="1400" i="0" dirty="0"/>
              <a:t> </a:t>
            </a:r>
            <a:r>
              <a:rPr lang="en-US" sz="1400" i="0" dirty="0" err="1"/>
              <a:t>dokazima</a:t>
            </a:r>
            <a:endParaRPr lang="en-US" sz="1400" i="0" dirty="0"/>
          </a:p>
        </p:txBody>
      </p:sp>
    </p:spTree>
    <p:extLst>
      <p:ext uri="{BB962C8B-B14F-4D97-AF65-F5344CB8AC3E}">
        <p14:creationId xmlns:p14="http://schemas.microsoft.com/office/powerpoint/2010/main" val="69468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8C89EA62-F38E-4285-A105-C5E1BD360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CF6E46A-CCCD-4728-B011-E147B2362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E2C684B-30C9-4689-A529-EBF1B8ADB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ECB0E0D-AC1B-4E83-84EA-237BFA206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6DCB3B1-E1A7-4510-831B-77C8EFF56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0132A3B-10CF-4EEB-BA1F-A63D2ED61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014E52ED-3C51-46E6-BE4B-14FFAB2C3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6D97C7A-1273-9964-58B4-3E33E05E0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713" y="1504739"/>
            <a:ext cx="6544251" cy="38485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 err="1"/>
              <a:t>Qr</a:t>
            </a:r>
            <a:r>
              <a:rPr lang="en-US" sz="6600" dirty="0"/>
              <a:t> </a:t>
            </a:r>
            <a:r>
              <a:rPr lang="en-US" sz="6600" dirty="0" err="1"/>
              <a:t>kodovi</a:t>
            </a:r>
            <a:endParaRPr lang="en-US" sz="6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16DDC6-8F07-46CC-8751-E5C9346B2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4964" y="2388358"/>
            <a:ext cx="0" cy="1856096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266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5B6EF-8115-2EDC-E212-55093B51F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20576-9B7E-B0BC-0E54-86910F72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US" b="1" dirty="0"/>
              <a:t>QR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F6AF89-AAED-548F-2C30-A417C1F3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1545929"/>
            <a:ext cx="4075470" cy="3581400"/>
          </a:xfrm>
        </p:spPr>
        <p:txBody>
          <a:bodyPr>
            <a:noAutofit/>
          </a:bodyPr>
          <a:lstStyle/>
          <a:p>
            <a:r>
              <a:rPr lang="en-US" sz="1200" dirty="0"/>
              <a:t>QR </a:t>
            </a:r>
            <a:r>
              <a:rPr lang="en-US" sz="1200" dirty="0" err="1"/>
              <a:t>kod</a:t>
            </a:r>
            <a:r>
              <a:rPr lang="en-US" sz="1200" dirty="0"/>
              <a:t> = 2D </a:t>
            </a:r>
            <a:r>
              <a:rPr lang="en-US" sz="1200" dirty="0" err="1"/>
              <a:t>barkod</a:t>
            </a:r>
            <a:r>
              <a:rPr lang="en-US" sz="1200" dirty="0"/>
              <a:t> (</a:t>
            </a:r>
            <a:r>
              <a:rPr lang="en-US" sz="1200" dirty="0" err="1"/>
              <a:t>mreža</a:t>
            </a:r>
            <a:r>
              <a:rPr lang="en-US" sz="1200" dirty="0"/>
              <a:t> </a:t>
            </a:r>
            <a:r>
              <a:rPr lang="en-US" sz="1200" dirty="0" err="1"/>
              <a:t>crnih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belih</a:t>
            </a:r>
            <a:r>
              <a:rPr lang="en-US" sz="1200" dirty="0"/>
              <a:t> </a:t>
            </a:r>
            <a:r>
              <a:rPr lang="en-US" sz="1200" dirty="0" err="1"/>
              <a:t>modula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Ključni</a:t>
            </a:r>
            <a:r>
              <a:rPr lang="en-US" sz="1200" dirty="0"/>
              <a:t> </a:t>
            </a:r>
            <a:r>
              <a:rPr lang="en-US" sz="1200" dirty="0" err="1"/>
              <a:t>elementi</a:t>
            </a:r>
            <a:r>
              <a:rPr lang="en-US" sz="1200" dirty="0"/>
              <a:t>: </a:t>
            </a:r>
          </a:p>
          <a:p>
            <a:pPr lvl="1"/>
            <a:r>
              <a:rPr lang="en-US" sz="1200" dirty="0"/>
              <a:t>Finder patterns:</a:t>
            </a:r>
            <a:r>
              <a:rPr lang="en-US" sz="1200" i="0" dirty="0"/>
              <a:t> </a:t>
            </a:r>
            <a:r>
              <a:rPr lang="en-US" sz="1200" i="0" dirty="0" err="1"/>
              <a:t>orijentacija</a:t>
            </a:r>
            <a:r>
              <a:rPr lang="en-US" sz="1200" i="0" dirty="0"/>
              <a:t> </a:t>
            </a:r>
            <a:r>
              <a:rPr lang="en-US" sz="1200" i="0" dirty="0" err="1"/>
              <a:t>i</a:t>
            </a:r>
            <a:r>
              <a:rPr lang="en-US" sz="1200" i="0" dirty="0"/>
              <a:t> </a:t>
            </a:r>
            <a:r>
              <a:rPr lang="en-US" sz="1200" i="0" dirty="0" err="1"/>
              <a:t>pozicija</a:t>
            </a:r>
            <a:r>
              <a:rPr lang="en-US" sz="1200" i="0" dirty="0"/>
              <a:t> </a:t>
            </a:r>
          </a:p>
          <a:p>
            <a:pPr lvl="1"/>
            <a:r>
              <a:rPr lang="en-US" sz="1200" dirty="0"/>
              <a:t>Timing patterns:</a:t>
            </a:r>
            <a:r>
              <a:rPr lang="en-US" sz="1200" i="0" dirty="0"/>
              <a:t> </a:t>
            </a:r>
            <a:r>
              <a:rPr lang="en-US" sz="1200" i="0" dirty="0" err="1"/>
              <a:t>koordinatna</a:t>
            </a:r>
            <a:r>
              <a:rPr lang="en-US" sz="1200" i="0" dirty="0"/>
              <a:t> </a:t>
            </a:r>
            <a:r>
              <a:rPr lang="en-US" sz="1200" i="0" dirty="0" err="1"/>
              <a:t>mreža</a:t>
            </a:r>
            <a:r>
              <a:rPr lang="en-US" sz="1200" i="0" dirty="0"/>
              <a:t> </a:t>
            </a:r>
          </a:p>
          <a:p>
            <a:pPr lvl="1"/>
            <a:r>
              <a:rPr lang="en-US" sz="1200" dirty="0"/>
              <a:t>Alignment patterns: </a:t>
            </a:r>
            <a:r>
              <a:rPr lang="en-US" sz="1200" dirty="0" err="1"/>
              <a:t>korekcija</a:t>
            </a:r>
            <a:r>
              <a:rPr lang="en-US" sz="1200" dirty="0"/>
              <a:t> </a:t>
            </a:r>
            <a:r>
              <a:rPr lang="en-US" sz="1200" dirty="0" err="1"/>
              <a:t>deformacija</a:t>
            </a:r>
            <a:r>
              <a:rPr lang="en-US" sz="1200" dirty="0"/>
              <a:t> </a:t>
            </a:r>
          </a:p>
          <a:p>
            <a:pPr lvl="1"/>
            <a:r>
              <a:rPr lang="en-US" sz="1200" dirty="0"/>
              <a:t>Data area:</a:t>
            </a:r>
            <a:r>
              <a:rPr lang="en-US" sz="1200" i="0" dirty="0"/>
              <a:t> </a:t>
            </a:r>
            <a:r>
              <a:rPr lang="en-US" sz="1200" i="0" dirty="0" err="1"/>
              <a:t>stvarni</a:t>
            </a:r>
            <a:r>
              <a:rPr lang="en-US" sz="1200" i="0" dirty="0"/>
              <a:t> </a:t>
            </a:r>
            <a:r>
              <a:rPr lang="en-US" sz="1200" i="0" dirty="0" err="1"/>
              <a:t>podaci</a:t>
            </a:r>
            <a:r>
              <a:rPr lang="en-US" sz="1200" i="0" dirty="0"/>
              <a:t> + </a:t>
            </a:r>
            <a:r>
              <a:rPr lang="en-US" sz="1200" i="0" dirty="0" err="1"/>
              <a:t>korekcija</a:t>
            </a:r>
            <a:r>
              <a:rPr lang="en-US" sz="1200" i="0" dirty="0"/>
              <a:t> </a:t>
            </a:r>
            <a:r>
              <a:rPr lang="en-US" sz="1200" i="0" dirty="0" err="1"/>
              <a:t>grešaka</a:t>
            </a:r>
            <a:endParaRPr lang="en-US" sz="1200" i="0" dirty="0"/>
          </a:p>
          <a:p>
            <a:pPr lvl="1"/>
            <a:endParaRPr lang="en-US" sz="1200" i="0" dirty="0"/>
          </a:p>
          <a:p>
            <a:r>
              <a:rPr lang="en-US" sz="1200" dirty="0" err="1"/>
              <a:t>Nivoi</a:t>
            </a:r>
            <a:r>
              <a:rPr lang="en-US" sz="1200" dirty="0"/>
              <a:t> </a:t>
            </a:r>
            <a:r>
              <a:rPr lang="en-US" sz="1200" dirty="0" err="1"/>
              <a:t>korekcije</a:t>
            </a:r>
            <a:r>
              <a:rPr lang="en-US" sz="1200" dirty="0"/>
              <a:t> </a:t>
            </a:r>
            <a:r>
              <a:rPr lang="en-US" sz="1200" dirty="0" err="1"/>
              <a:t>grešaka</a:t>
            </a:r>
            <a:r>
              <a:rPr lang="en-US" sz="1200" dirty="0"/>
              <a:t>: </a:t>
            </a:r>
          </a:p>
          <a:p>
            <a:pPr lvl="1"/>
            <a:r>
              <a:rPr lang="en-US" sz="1200" dirty="0"/>
              <a:t> L </a:t>
            </a:r>
            <a:r>
              <a:rPr lang="en-US" sz="1200" i="0" dirty="0"/>
              <a:t>-</a:t>
            </a:r>
            <a:r>
              <a:rPr lang="en-US" sz="1200" dirty="0"/>
              <a:t> </a:t>
            </a:r>
            <a:r>
              <a:rPr lang="en-US" sz="1200" i="0" dirty="0"/>
              <a:t>do 7% </a:t>
            </a:r>
          </a:p>
          <a:p>
            <a:pPr lvl="1"/>
            <a:r>
              <a:rPr lang="en-US" sz="1200" dirty="0"/>
              <a:t>M </a:t>
            </a:r>
            <a:r>
              <a:rPr lang="en-US" sz="1200" i="0" dirty="0"/>
              <a:t>-</a:t>
            </a:r>
            <a:r>
              <a:rPr lang="en-US" sz="1200" dirty="0"/>
              <a:t> </a:t>
            </a:r>
            <a:r>
              <a:rPr lang="en-US" sz="1200" i="0" dirty="0"/>
              <a:t>do 15% </a:t>
            </a:r>
          </a:p>
          <a:p>
            <a:pPr lvl="1"/>
            <a:r>
              <a:rPr lang="en-US" sz="1200" dirty="0"/>
              <a:t>Q </a:t>
            </a:r>
            <a:r>
              <a:rPr lang="en-US" sz="1200" i="0" dirty="0"/>
              <a:t>-</a:t>
            </a:r>
            <a:r>
              <a:rPr lang="en-US" sz="1200" dirty="0"/>
              <a:t> </a:t>
            </a:r>
            <a:r>
              <a:rPr lang="en-US" sz="1200" i="0" dirty="0"/>
              <a:t>do 25% </a:t>
            </a:r>
          </a:p>
          <a:p>
            <a:pPr lvl="1"/>
            <a:r>
              <a:rPr lang="en-US" sz="1200" dirty="0"/>
              <a:t>H </a:t>
            </a:r>
            <a:r>
              <a:rPr lang="en-US" sz="1200" i="0" dirty="0"/>
              <a:t>-</a:t>
            </a:r>
            <a:r>
              <a:rPr lang="en-US" sz="1200" dirty="0"/>
              <a:t> </a:t>
            </a:r>
            <a:r>
              <a:rPr lang="en-US" sz="1200" i="0" dirty="0"/>
              <a:t>do 30%</a:t>
            </a:r>
            <a:br>
              <a:rPr lang="en-US" sz="1200" i="0" dirty="0"/>
            </a:br>
            <a:endParaRPr lang="en-US" sz="1200" i="0" dirty="0"/>
          </a:p>
          <a:p>
            <a:r>
              <a:rPr lang="en-US" sz="1200" dirty="0" err="1"/>
              <a:t>Viši</a:t>
            </a:r>
            <a:r>
              <a:rPr lang="en-US" sz="1200" dirty="0"/>
              <a:t> </a:t>
            </a:r>
            <a:r>
              <a:rPr lang="en-US" sz="1200" dirty="0" err="1"/>
              <a:t>nivo</a:t>
            </a:r>
            <a:r>
              <a:rPr lang="en-US" sz="1200" dirty="0"/>
              <a:t> = </a:t>
            </a:r>
            <a:r>
              <a:rPr lang="en-US" sz="1200" dirty="0" err="1"/>
              <a:t>veća</a:t>
            </a:r>
            <a:r>
              <a:rPr lang="en-US" sz="1200" dirty="0"/>
              <a:t> </a:t>
            </a:r>
            <a:r>
              <a:rPr lang="en-US" sz="1200" dirty="0" err="1"/>
              <a:t>otpornost</a:t>
            </a:r>
            <a:r>
              <a:rPr lang="en-US" sz="1200" dirty="0"/>
              <a:t>, </a:t>
            </a:r>
            <a:r>
              <a:rPr lang="en-US" sz="1200" dirty="0" err="1"/>
              <a:t>ali</a:t>
            </a:r>
            <a:r>
              <a:rPr lang="en-US" sz="1200" dirty="0"/>
              <a:t> </a:t>
            </a:r>
            <a:r>
              <a:rPr lang="en-US" sz="1200" dirty="0" err="1"/>
              <a:t>veći</a:t>
            </a:r>
            <a:r>
              <a:rPr lang="en-US" sz="1200" dirty="0"/>
              <a:t> </a:t>
            </a:r>
            <a:r>
              <a:rPr lang="en-US" sz="1200" dirty="0" err="1"/>
              <a:t>kod</a:t>
            </a:r>
            <a:r>
              <a:rPr lang="en-US" sz="1200" dirty="0"/>
              <a:t> </a:t>
            </a:r>
          </a:p>
          <a:p>
            <a:r>
              <a:rPr lang="en-US" sz="1200" dirty="0" err="1"/>
              <a:t>Implementacija</a:t>
            </a:r>
            <a:r>
              <a:rPr lang="en-US" sz="1200" dirty="0"/>
              <a:t>: Reed-Solomon </a:t>
            </a:r>
            <a:r>
              <a:rPr lang="en-US" sz="1200" dirty="0" err="1"/>
              <a:t>algoritam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E6B98A-C9E6-E74A-B48C-CD65B7F2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663" y="2171700"/>
            <a:ext cx="4659718" cy="232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08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748A-CF26-2CA9-A5E7-F7C538FC3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6BDA-5E14-8A63-3989-BC62405C3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1480930"/>
            <a:ext cx="6498538" cy="38485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LSB </a:t>
            </a:r>
            <a:r>
              <a:rPr lang="en-US" sz="6600" dirty="0" err="1"/>
              <a:t>steganografija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793242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3A551-C60C-4F49-EA1B-C8B447B4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9EB1-CD3F-A404-6F88-9701E2480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/>
              <a:t>LSB STEGANOGRAFIJA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B71AF90-C408-F72F-2BA7-0752D9A00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638300"/>
            <a:ext cx="5072437" cy="3581400"/>
          </a:xfrm>
        </p:spPr>
        <p:txBody>
          <a:bodyPr>
            <a:noAutofit/>
          </a:bodyPr>
          <a:lstStyle/>
          <a:p>
            <a:r>
              <a:rPr lang="en-US" sz="1200" b="1" dirty="0" err="1"/>
              <a:t>Osnovna</a:t>
            </a:r>
            <a:r>
              <a:rPr lang="en-US" sz="1200" b="1" dirty="0"/>
              <a:t> </a:t>
            </a:r>
            <a:r>
              <a:rPr lang="en-US" sz="1200" b="1" dirty="0" err="1"/>
              <a:t>ideja</a:t>
            </a:r>
            <a:endParaRPr lang="en-US" sz="1200" b="1" dirty="0"/>
          </a:p>
          <a:p>
            <a:pPr lvl="1"/>
            <a:r>
              <a:rPr lang="en-US" sz="1200" i="0" dirty="0" err="1"/>
              <a:t>Skrivanje</a:t>
            </a:r>
            <a:r>
              <a:rPr lang="en-US" sz="1200" i="0" dirty="0"/>
              <a:t> </a:t>
            </a:r>
            <a:r>
              <a:rPr lang="en-US" sz="1200" i="0" dirty="0" err="1"/>
              <a:t>podataka</a:t>
            </a:r>
            <a:r>
              <a:rPr lang="en-US" sz="1200" i="0" dirty="0"/>
              <a:t> u </a:t>
            </a:r>
            <a:r>
              <a:rPr lang="en-US" sz="1200" b="1" i="0" dirty="0" err="1"/>
              <a:t>poslednjem</a:t>
            </a:r>
            <a:r>
              <a:rPr lang="en-US" sz="1200" b="1" i="0" dirty="0"/>
              <a:t> </a:t>
            </a:r>
            <a:r>
              <a:rPr lang="en-US" sz="1200" b="1" i="0" dirty="0" err="1"/>
              <a:t>bitu</a:t>
            </a:r>
            <a:r>
              <a:rPr lang="en-US" sz="1200" b="1" i="0" dirty="0"/>
              <a:t> </a:t>
            </a:r>
            <a:r>
              <a:rPr lang="en-US" sz="1200" b="1" i="0" dirty="0" err="1"/>
              <a:t>piksela</a:t>
            </a:r>
            <a:r>
              <a:rPr lang="en-US" sz="1200" b="1" i="0" dirty="0"/>
              <a:t> (LSB)</a:t>
            </a:r>
            <a:r>
              <a:rPr lang="en-US" sz="1200" i="0" dirty="0"/>
              <a:t> </a:t>
            </a:r>
          </a:p>
          <a:p>
            <a:pPr lvl="1"/>
            <a:r>
              <a:rPr lang="en-US" sz="1200" i="0" dirty="0" err="1"/>
              <a:t>Promene</a:t>
            </a:r>
            <a:r>
              <a:rPr lang="en-US" sz="1200" i="0" dirty="0"/>
              <a:t> </a:t>
            </a:r>
            <a:r>
              <a:rPr lang="en-US" sz="1200" i="0" dirty="0" err="1"/>
              <a:t>su</a:t>
            </a:r>
            <a:r>
              <a:rPr lang="en-US" sz="1200" i="0" dirty="0"/>
              <a:t> </a:t>
            </a:r>
            <a:r>
              <a:rPr lang="en-US" sz="1200" b="1" i="0" dirty="0" err="1"/>
              <a:t>vizuelno</a:t>
            </a:r>
            <a:r>
              <a:rPr lang="en-US" sz="1200" b="1" i="0" dirty="0"/>
              <a:t> </a:t>
            </a:r>
            <a:r>
              <a:rPr lang="en-US" sz="1200" b="1" i="0" dirty="0" err="1"/>
              <a:t>neprimetne</a:t>
            </a:r>
            <a:r>
              <a:rPr lang="en-US" sz="1200" i="0" dirty="0"/>
              <a:t> </a:t>
            </a:r>
          </a:p>
          <a:p>
            <a:pPr lvl="1"/>
            <a:r>
              <a:rPr lang="en-US" sz="1200" i="0" dirty="0"/>
              <a:t>Jedan </a:t>
            </a:r>
            <a:r>
              <a:rPr lang="en-US" sz="1200" i="0" dirty="0" err="1"/>
              <a:t>piksel</a:t>
            </a:r>
            <a:r>
              <a:rPr lang="en-US" sz="1200" i="0" dirty="0"/>
              <a:t> = </a:t>
            </a:r>
            <a:r>
              <a:rPr lang="en-US" sz="1200" b="1" i="0" dirty="0"/>
              <a:t>1 bit </a:t>
            </a:r>
            <a:r>
              <a:rPr lang="en-US" sz="1200" b="1" i="0" dirty="0" err="1"/>
              <a:t>skrivene</a:t>
            </a:r>
            <a:r>
              <a:rPr lang="en-US" sz="1200" b="1" i="0" dirty="0"/>
              <a:t> </a:t>
            </a:r>
            <a:r>
              <a:rPr lang="en-US" sz="1200" b="1" i="0" dirty="0" err="1"/>
              <a:t>informacije</a:t>
            </a:r>
            <a:endParaRPr lang="en-US" sz="1200" b="1" i="0" dirty="0"/>
          </a:p>
          <a:p>
            <a:pPr lvl="1"/>
            <a:endParaRPr lang="en-US" sz="1200" b="1" i="0" dirty="0"/>
          </a:p>
          <a:p>
            <a:r>
              <a:rPr lang="en-US" sz="1200" dirty="0"/>
              <a:t>Princip rada </a:t>
            </a:r>
          </a:p>
          <a:p>
            <a:pPr lvl="1"/>
            <a:r>
              <a:rPr lang="en-US" sz="1200" i="0" dirty="0" err="1"/>
              <a:t>Piksel</a:t>
            </a:r>
            <a:r>
              <a:rPr lang="en-US" sz="1200" i="0" dirty="0"/>
              <a:t>: </a:t>
            </a:r>
            <a:r>
              <a:rPr lang="en-US" sz="1200" i="0" dirty="0" err="1"/>
              <a:t>vrednost</a:t>
            </a:r>
            <a:r>
              <a:rPr lang="en-US" sz="1200" i="0" dirty="0"/>
              <a:t> 0–255 (8 </a:t>
            </a:r>
            <a:r>
              <a:rPr lang="en-US" sz="1200" i="0" dirty="0" err="1"/>
              <a:t>bita</a:t>
            </a:r>
            <a:r>
              <a:rPr lang="en-US" sz="1200" i="0" dirty="0"/>
              <a:t>) </a:t>
            </a:r>
          </a:p>
          <a:p>
            <a:pPr lvl="1"/>
            <a:r>
              <a:rPr lang="en-US" sz="1200" i="0" dirty="0"/>
              <a:t>Menja se </a:t>
            </a:r>
            <a:r>
              <a:rPr lang="en-US" sz="1200" i="0" dirty="0" err="1"/>
              <a:t>samo</a:t>
            </a:r>
            <a:r>
              <a:rPr lang="en-US" sz="1200" i="0" dirty="0"/>
              <a:t> </a:t>
            </a:r>
            <a:r>
              <a:rPr lang="en-US" sz="1200" i="0" dirty="0" err="1"/>
              <a:t>najmanje</a:t>
            </a:r>
            <a:r>
              <a:rPr lang="en-US" sz="1200" i="0" dirty="0"/>
              <a:t> </a:t>
            </a:r>
            <a:r>
              <a:rPr lang="en-US" sz="1200" i="0" dirty="0" err="1"/>
              <a:t>značajan</a:t>
            </a:r>
            <a:r>
              <a:rPr lang="en-US" sz="1200" i="0" dirty="0"/>
              <a:t> bit </a:t>
            </a:r>
          </a:p>
          <a:p>
            <a:pPr lvl="1"/>
            <a:r>
              <a:rPr lang="en-US" sz="1200" i="0" dirty="0" err="1"/>
              <a:t>Razlika</a:t>
            </a:r>
            <a:r>
              <a:rPr lang="en-US" sz="1200" i="0" dirty="0"/>
              <a:t> u </a:t>
            </a:r>
            <a:r>
              <a:rPr lang="en-US" sz="1200" i="0" dirty="0" err="1"/>
              <a:t>boji</a:t>
            </a:r>
            <a:r>
              <a:rPr lang="en-US" sz="1200" i="0" dirty="0"/>
              <a:t> = ±1 </a:t>
            </a:r>
            <a:r>
              <a:rPr lang="en-US" sz="1200" i="0" dirty="0" err="1"/>
              <a:t>intenzitet</a:t>
            </a:r>
            <a:r>
              <a:rPr lang="en-US" sz="1200" i="0" dirty="0"/>
              <a:t> (</a:t>
            </a:r>
            <a:r>
              <a:rPr lang="en-US" sz="1200" i="0" dirty="0" err="1"/>
              <a:t>nevidljivo</a:t>
            </a:r>
            <a:r>
              <a:rPr lang="en-US" sz="1200" i="0" dirty="0"/>
              <a:t> </a:t>
            </a:r>
            <a:r>
              <a:rPr lang="en-US" sz="1200" i="0" dirty="0" err="1"/>
              <a:t>oku</a:t>
            </a:r>
            <a:r>
              <a:rPr lang="en-US" sz="1200" i="0" dirty="0"/>
              <a:t>) </a:t>
            </a:r>
          </a:p>
          <a:p>
            <a:pPr lvl="1"/>
            <a:r>
              <a:rPr lang="en-US" sz="1200" i="0" dirty="0" err="1"/>
              <a:t>Poruka</a:t>
            </a:r>
            <a:r>
              <a:rPr lang="en-US" sz="1200" i="0" dirty="0"/>
              <a:t> se </a:t>
            </a:r>
            <a:r>
              <a:rPr lang="en-US" sz="1200" i="0" dirty="0" err="1"/>
              <a:t>upisuje</a:t>
            </a:r>
            <a:r>
              <a:rPr lang="en-US" sz="1200" i="0" dirty="0"/>
              <a:t> bit po bit </a:t>
            </a:r>
            <a:r>
              <a:rPr lang="en-US" sz="1200" i="0" dirty="0" err="1"/>
              <a:t>kroz</a:t>
            </a:r>
            <a:r>
              <a:rPr lang="en-US" sz="1200" i="0" dirty="0"/>
              <a:t> </a:t>
            </a:r>
            <a:r>
              <a:rPr lang="en-US" sz="1200" i="0" dirty="0" err="1"/>
              <a:t>piksele</a:t>
            </a:r>
            <a:r>
              <a:rPr lang="en-US" sz="1200" i="0" dirty="0"/>
              <a:t> </a:t>
            </a:r>
            <a:r>
              <a:rPr lang="en-US" sz="1200" i="0" dirty="0" err="1"/>
              <a:t>slike</a:t>
            </a:r>
            <a:endParaRPr lang="en-US" sz="1200" i="0" dirty="0"/>
          </a:p>
          <a:p>
            <a:pPr lvl="1"/>
            <a:endParaRPr lang="en-US" sz="1200" i="0" dirty="0"/>
          </a:p>
          <a:p>
            <a:r>
              <a:rPr lang="en-US" sz="1200" dirty="0" err="1"/>
              <a:t>Kapacitet</a:t>
            </a:r>
            <a:r>
              <a:rPr lang="en-US" sz="1200" dirty="0"/>
              <a:t> N </a:t>
            </a:r>
            <a:r>
              <a:rPr lang="en-US" sz="1200" dirty="0" err="1"/>
              <a:t>piksela</a:t>
            </a:r>
            <a:endParaRPr lang="en-US" sz="1200" dirty="0"/>
          </a:p>
          <a:p>
            <a:pPr lvl="1"/>
            <a:r>
              <a:rPr lang="en-US" sz="1200" i="0" dirty="0"/>
              <a:t> N/8 </a:t>
            </a:r>
            <a:r>
              <a:rPr lang="en-US" sz="1200" i="0" dirty="0" err="1"/>
              <a:t>bajtova</a:t>
            </a:r>
            <a:r>
              <a:rPr lang="en-US" sz="1200" i="0" dirty="0"/>
              <a:t> </a:t>
            </a:r>
            <a:r>
              <a:rPr lang="en-US" sz="1200" i="0" dirty="0" err="1"/>
              <a:t>podataka</a:t>
            </a:r>
            <a:r>
              <a:rPr lang="en-US" sz="1200" i="0" dirty="0"/>
              <a:t> </a:t>
            </a:r>
          </a:p>
          <a:p>
            <a:pPr lvl="1"/>
            <a:r>
              <a:rPr lang="en-US" sz="1200" i="0" dirty="0"/>
              <a:t>~41 </a:t>
            </a:r>
            <a:r>
              <a:rPr lang="en-US" sz="1200" i="0" dirty="0" err="1"/>
              <a:t>bajt</a:t>
            </a:r>
            <a:r>
              <a:rPr lang="en-US" sz="1200" i="0" dirty="0"/>
              <a:t> </a:t>
            </a:r>
            <a:r>
              <a:rPr lang="en-US" sz="1200" i="0" dirty="0" err="1"/>
              <a:t>zauzima</a:t>
            </a:r>
            <a:r>
              <a:rPr lang="en-US" sz="1200" i="0" dirty="0"/>
              <a:t> </a:t>
            </a:r>
            <a:r>
              <a:rPr lang="en-US" sz="1200" i="0" dirty="0" err="1"/>
              <a:t>zaglavlje</a:t>
            </a:r>
            <a:r>
              <a:rPr lang="en-US" sz="1200" i="0" dirty="0"/>
              <a:t> (metadata) </a:t>
            </a:r>
          </a:p>
          <a:p>
            <a:pPr lvl="1"/>
            <a:r>
              <a:rPr lang="en-US" sz="1200" i="0" dirty="0" err="1"/>
              <a:t>Veće</a:t>
            </a:r>
            <a:r>
              <a:rPr lang="en-US" sz="1200" i="0" dirty="0"/>
              <a:t> </a:t>
            </a:r>
            <a:r>
              <a:rPr lang="en-US" sz="1200" i="0" dirty="0" err="1"/>
              <a:t>slike</a:t>
            </a:r>
            <a:r>
              <a:rPr lang="en-US" sz="1200" i="0" dirty="0"/>
              <a:t> = </a:t>
            </a:r>
            <a:r>
              <a:rPr lang="en-US" sz="1200" i="0" dirty="0" err="1"/>
              <a:t>veći</a:t>
            </a:r>
            <a:r>
              <a:rPr lang="en-US" sz="1200" i="0" dirty="0"/>
              <a:t> </a:t>
            </a:r>
            <a:r>
              <a:rPr lang="en-US" sz="1200" i="0" dirty="0" err="1"/>
              <a:t>kapacitet</a:t>
            </a:r>
            <a:endParaRPr lang="en-US" sz="1200" i="0" dirty="0"/>
          </a:p>
          <a:p>
            <a:pPr lvl="1"/>
            <a:endParaRPr lang="en-US" sz="1200" i="0" dirty="0"/>
          </a:p>
          <a:p>
            <a:r>
              <a:rPr lang="en-US" sz="1200" dirty="0" err="1"/>
              <a:t>Prednosti</a:t>
            </a:r>
            <a:r>
              <a:rPr lang="en-US" sz="1200" dirty="0"/>
              <a:t>: Visok </a:t>
            </a:r>
            <a:r>
              <a:rPr lang="en-US" sz="1200" dirty="0" err="1"/>
              <a:t>kapacitet</a:t>
            </a:r>
            <a:r>
              <a:rPr lang="en-US" sz="1200" dirty="0"/>
              <a:t> &amp; </a:t>
            </a:r>
            <a:r>
              <a:rPr lang="en-US" sz="1200" dirty="0" err="1"/>
              <a:t>jednostavna</a:t>
            </a:r>
            <a:r>
              <a:rPr lang="en-US" sz="1200" dirty="0"/>
              <a:t> </a:t>
            </a:r>
            <a:r>
              <a:rPr lang="en-US" sz="1200" dirty="0" err="1"/>
              <a:t>implementacija</a:t>
            </a:r>
            <a:r>
              <a:rPr lang="en-US" sz="1200" dirty="0"/>
              <a:t> </a:t>
            </a:r>
          </a:p>
          <a:p>
            <a:r>
              <a:rPr lang="en-US" sz="1200" dirty="0"/>
              <a:t>Mane: </a:t>
            </a:r>
            <a:r>
              <a:rPr lang="en-US" sz="1200" dirty="0" err="1"/>
              <a:t>Osetljivo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kompresiju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obradu</a:t>
            </a:r>
            <a:r>
              <a:rPr lang="en-US" sz="1200" dirty="0"/>
              <a:t> &amp; Lako </a:t>
            </a:r>
            <a:r>
              <a:rPr lang="en-US" sz="1200" dirty="0" err="1"/>
              <a:t>detektabilno</a:t>
            </a:r>
            <a:r>
              <a:rPr lang="en-US" sz="1200" dirty="0"/>
              <a:t> </a:t>
            </a:r>
            <a:r>
              <a:rPr lang="en-US" sz="1200" dirty="0" err="1"/>
              <a:t>statistikom</a:t>
            </a:r>
            <a:endParaRPr lang="en-US" sz="1200" i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28A88-1E42-B7CC-3B1E-6F213CC46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324" y="2540593"/>
            <a:ext cx="5459222" cy="231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03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37B71-CB71-5819-A052-1F992B2DA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89EA62-F38E-4285-A105-C5E1BD360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CF6E46A-CCCD-4728-B011-E147B2362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E2C684B-30C9-4689-A529-EBF1B8ADB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ECB0E0D-AC1B-4E83-84EA-237BFA206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DCB3B1-E1A7-4510-831B-77C8EFF56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0132A3B-10CF-4EEB-BA1F-A63D2ED61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014E52ED-3C51-46E6-BE4B-14FFAB2C3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1DB9DA-84E4-4876-7258-51714133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21" y="1480930"/>
            <a:ext cx="5751537" cy="38485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600" dirty="0" err="1"/>
              <a:t>Implementacija</a:t>
            </a:r>
            <a:endParaRPr lang="en-US" sz="5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16DDC6-8F07-46CC-8751-E5C9346B2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4964" y="2388358"/>
            <a:ext cx="0" cy="1856096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336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859D9-7572-D28E-001D-58E5489E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F524-0CD7-C586-C345-1F5BF67F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8981768" cy="1485900"/>
          </a:xfrm>
        </p:spPr>
        <p:txBody>
          <a:bodyPr>
            <a:normAutofit/>
          </a:bodyPr>
          <a:lstStyle/>
          <a:p>
            <a:r>
              <a:rPr lang="en-US" b="1" dirty="0" err="1"/>
              <a:t>Tehnologije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3B23FE-B7DD-73AE-76B0-9882C0F6A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73046"/>
            <a:ext cx="5668298" cy="3886200"/>
          </a:xfrm>
        </p:spPr>
        <p:txBody>
          <a:bodyPr>
            <a:noAutofit/>
          </a:bodyPr>
          <a:lstStyle/>
          <a:p>
            <a:r>
              <a:rPr lang="en-US" sz="1600" b="1" dirty="0" err="1"/>
              <a:t>Korišćene</a:t>
            </a:r>
            <a:r>
              <a:rPr lang="en-US" sz="1600" b="1" dirty="0"/>
              <a:t> </a:t>
            </a:r>
            <a:r>
              <a:rPr lang="en-US" sz="1600" b="1" dirty="0" err="1"/>
              <a:t>tehnologije</a:t>
            </a:r>
            <a:endParaRPr lang="en-US" sz="1600" b="1" dirty="0"/>
          </a:p>
          <a:p>
            <a:pPr lvl="1"/>
            <a:r>
              <a:rPr lang="en-US" sz="1600" b="1" dirty="0"/>
              <a:t>Visual Studio Code</a:t>
            </a:r>
            <a:r>
              <a:rPr lang="en-US" sz="1600" dirty="0"/>
              <a:t> </a:t>
            </a:r>
            <a:r>
              <a:rPr lang="en-US" sz="1600" i="0" dirty="0"/>
              <a:t>–</a:t>
            </a:r>
            <a:r>
              <a:rPr lang="en-US" sz="1600" dirty="0"/>
              <a:t> </a:t>
            </a:r>
            <a:r>
              <a:rPr lang="en-US" sz="1600" i="0" dirty="0" err="1"/>
              <a:t>razvojno</a:t>
            </a:r>
            <a:r>
              <a:rPr lang="en-US" sz="1600" i="0" dirty="0"/>
              <a:t> </a:t>
            </a:r>
            <a:r>
              <a:rPr lang="en-US" sz="1600" i="0" dirty="0" err="1"/>
              <a:t>okruženje</a:t>
            </a:r>
            <a:r>
              <a:rPr lang="en-US" sz="1600" i="0" dirty="0"/>
              <a:t> </a:t>
            </a:r>
          </a:p>
          <a:p>
            <a:pPr lvl="1"/>
            <a:r>
              <a:rPr lang="en-US" sz="1600" b="1" dirty="0"/>
              <a:t>Python</a:t>
            </a:r>
            <a:r>
              <a:rPr lang="en-US" sz="1600" dirty="0"/>
              <a:t> </a:t>
            </a:r>
            <a:r>
              <a:rPr lang="en-US" sz="1600" i="0" dirty="0"/>
              <a:t>–</a:t>
            </a:r>
            <a:r>
              <a:rPr lang="en-US" sz="1600" dirty="0"/>
              <a:t> </a:t>
            </a:r>
            <a:r>
              <a:rPr lang="en-US" sz="1600" i="0" dirty="0" err="1"/>
              <a:t>osnovni</a:t>
            </a:r>
            <a:r>
              <a:rPr lang="en-US" sz="1600" i="0" dirty="0"/>
              <a:t> </a:t>
            </a:r>
            <a:r>
              <a:rPr lang="en-US" sz="1600" i="0" dirty="0" err="1"/>
              <a:t>programski</a:t>
            </a:r>
            <a:r>
              <a:rPr lang="en-US" sz="1600" i="0" dirty="0"/>
              <a:t> </a:t>
            </a:r>
            <a:r>
              <a:rPr lang="en-US" sz="1600" i="0" dirty="0" err="1"/>
              <a:t>jezik</a:t>
            </a:r>
            <a:r>
              <a:rPr lang="en-US" sz="1600" i="0" dirty="0"/>
              <a:t> </a:t>
            </a:r>
          </a:p>
          <a:p>
            <a:r>
              <a:rPr lang="en-US" sz="1600" dirty="0" err="1"/>
              <a:t>Biblioteke</a:t>
            </a:r>
            <a:r>
              <a:rPr lang="en-US" sz="1600" dirty="0"/>
              <a:t>:</a:t>
            </a:r>
          </a:p>
          <a:p>
            <a:pPr lvl="1"/>
            <a:r>
              <a:rPr lang="en-US" sz="1600" b="1" dirty="0" err="1"/>
              <a:t>qrcode</a:t>
            </a:r>
            <a:r>
              <a:rPr lang="en-US" sz="1600" dirty="0"/>
              <a:t> </a:t>
            </a:r>
            <a:r>
              <a:rPr lang="en-US" sz="1600" i="0" dirty="0"/>
              <a:t>–</a:t>
            </a:r>
            <a:r>
              <a:rPr lang="en-US" sz="1600" dirty="0"/>
              <a:t> </a:t>
            </a:r>
            <a:r>
              <a:rPr lang="en-US" sz="1600" i="0" dirty="0" err="1"/>
              <a:t>generisanje</a:t>
            </a:r>
            <a:r>
              <a:rPr lang="en-US" sz="1600" i="0" dirty="0"/>
              <a:t> QR </a:t>
            </a:r>
            <a:r>
              <a:rPr lang="en-US" sz="1600" i="0" dirty="0" err="1"/>
              <a:t>kodova</a:t>
            </a:r>
            <a:r>
              <a:rPr lang="en-US" sz="1600" i="0" dirty="0"/>
              <a:t> </a:t>
            </a:r>
          </a:p>
          <a:p>
            <a:pPr lvl="1"/>
            <a:r>
              <a:rPr lang="en-US" sz="1600" b="1" dirty="0"/>
              <a:t>Pillow</a:t>
            </a:r>
            <a:r>
              <a:rPr lang="en-US" sz="1600" dirty="0"/>
              <a:t> </a:t>
            </a:r>
            <a:r>
              <a:rPr lang="en-US" sz="1600" i="0" dirty="0"/>
              <a:t>– </a:t>
            </a:r>
            <a:r>
              <a:rPr lang="en-US" sz="1600" i="0" dirty="0" err="1"/>
              <a:t>obrada</a:t>
            </a:r>
            <a:r>
              <a:rPr lang="en-US" sz="1600" i="0" dirty="0"/>
              <a:t> </a:t>
            </a:r>
            <a:r>
              <a:rPr lang="en-US" sz="1600" i="0" dirty="0" err="1"/>
              <a:t>slike</a:t>
            </a:r>
            <a:r>
              <a:rPr lang="en-US" sz="1600" i="0" dirty="0"/>
              <a:t> (</a:t>
            </a:r>
            <a:r>
              <a:rPr lang="en-US" sz="1600" i="0" dirty="0" err="1"/>
              <a:t>pikseli</a:t>
            </a:r>
            <a:r>
              <a:rPr lang="en-US" sz="1600" i="0" dirty="0"/>
              <a:t>) </a:t>
            </a:r>
          </a:p>
          <a:p>
            <a:pPr lvl="1"/>
            <a:r>
              <a:rPr lang="en-US" sz="1600" b="1" dirty="0"/>
              <a:t>NumPy</a:t>
            </a:r>
            <a:r>
              <a:rPr lang="en-US" sz="1600" dirty="0"/>
              <a:t> </a:t>
            </a:r>
            <a:r>
              <a:rPr lang="en-US" sz="1600" i="0" dirty="0"/>
              <a:t>– rad </a:t>
            </a:r>
            <a:r>
              <a:rPr lang="en-US" sz="1600" i="0" dirty="0" err="1"/>
              <a:t>sa</a:t>
            </a:r>
            <a:r>
              <a:rPr lang="en-US" sz="1600" i="0" dirty="0"/>
              <a:t> </a:t>
            </a:r>
            <a:r>
              <a:rPr lang="en-US" sz="1600" i="0" dirty="0" err="1"/>
              <a:t>nizovima</a:t>
            </a:r>
            <a:r>
              <a:rPr lang="en-US" sz="1600" i="0" dirty="0"/>
              <a:t> </a:t>
            </a:r>
            <a:r>
              <a:rPr lang="en-US" sz="1600" i="0" dirty="0" err="1"/>
              <a:t>podataka</a:t>
            </a:r>
            <a:r>
              <a:rPr lang="en-US" sz="1600" i="0" dirty="0"/>
              <a:t> </a:t>
            </a:r>
          </a:p>
          <a:p>
            <a:pPr lvl="1"/>
            <a:r>
              <a:rPr lang="en-US" sz="1600" b="1" dirty="0" err="1"/>
              <a:t>hashlib</a:t>
            </a:r>
            <a:r>
              <a:rPr lang="en-US" sz="1600" dirty="0"/>
              <a:t> </a:t>
            </a:r>
            <a:r>
              <a:rPr lang="en-US" sz="1600" i="0" dirty="0"/>
              <a:t>– SHA-256 </a:t>
            </a:r>
            <a:r>
              <a:rPr lang="en-US" sz="1600" i="0" dirty="0" err="1"/>
              <a:t>heširanje</a:t>
            </a:r>
            <a:r>
              <a:rPr lang="en-US" sz="1600" i="0" dirty="0"/>
              <a:t> </a:t>
            </a:r>
          </a:p>
          <a:p>
            <a:pPr lvl="1"/>
            <a:r>
              <a:rPr lang="en-US" sz="1600" b="1" dirty="0" err="1"/>
              <a:t>os</a:t>
            </a:r>
            <a:r>
              <a:rPr lang="en-US" sz="1600" dirty="0"/>
              <a:t> </a:t>
            </a:r>
            <a:r>
              <a:rPr lang="en-US" sz="1600" i="0" dirty="0"/>
              <a:t>– rad </a:t>
            </a:r>
            <a:r>
              <a:rPr lang="en-US" sz="1600" i="0" dirty="0" err="1"/>
              <a:t>sa</a:t>
            </a:r>
            <a:r>
              <a:rPr lang="en-US" sz="1600" i="0" dirty="0"/>
              <a:t> </a:t>
            </a:r>
            <a:r>
              <a:rPr lang="en-US" sz="1600" i="0" dirty="0" err="1"/>
              <a:t>fajlovima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lvl="1"/>
            <a:endParaRPr lang="en-US" sz="1600" i="0" dirty="0"/>
          </a:p>
        </p:txBody>
      </p:sp>
    </p:spTree>
    <p:extLst>
      <p:ext uri="{BB962C8B-B14F-4D97-AF65-F5344CB8AC3E}">
        <p14:creationId xmlns:p14="http://schemas.microsoft.com/office/powerpoint/2010/main" val="380020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C14DB0-42CA-8A31-5AB9-BA26BD124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8E8D-651C-70BB-DC58-F17DCF6F1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Ključni </a:t>
            </a:r>
            <a:r>
              <a:rPr lang="en-US" b="1"/>
              <a:t>mehanizmi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5AD0A7-2F19-4179-F05D-ACCAD9F0B794}"/>
              </a:ext>
            </a:extLst>
          </p:cNvPr>
          <p:cNvSpPr txBox="1">
            <a:spLocks/>
          </p:cNvSpPr>
          <p:nvPr/>
        </p:nvSpPr>
        <p:spPr>
          <a:xfrm>
            <a:off x="1023562" y="2286000"/>
            <a:ext cx="5072437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4048" lvl="1"/>
            <a:r>
              <a:rPr lang="en-US" sz="1800" b="1" dirty="0"/>
              <a:t>Reed-Solomon</a:t>
            </a:r>
            <a:br>
              <a:rPr lang="en-US" sz="1800" dirty="0"/>
            </a:br>
            <a:r>
              <a:rPr lang="en-US" sz="1800" i="0" dirty="0"/>
              <a:t>➝ </a:t>
            </a:r>
            <a:r>
              <a:rPr lang="en-US" sz="1800" i="0" dirty="0" err="1"/>
              <a:t>korekcija</a:t>
            </a:r>
            <a:r>
              <a:rPr lang="en-US" sz="1800" i="0" dirty="0"/>
              <a:t> </a:t>
            </a:r>
            <a:r>
              <a:rPr lang="en-US" sz="1800" i="0" dirty="0" err="1"/>
              <a:t>grešaka</a:t>
            </a:r>
            <a:r>
              <a:rPr lang="en-US" sz="1800" i="0" dirty="0"/>
              <a:t> (do 30%)</a:t>
            </a:r>
            <a:br>
              <a:rPr lang="en-US" sz="1800" i="0" dirty="0"/>
            </a:br>
            <a:r>
              <a:rPr lang="en-US" sz="1800" i="0" dirty="0"/>
              <a:t>➝ </a:t>
            </a:r>
            <a:r>
              <a:rPr lang="en-US" sz="1800" i="0" dirty="0" err="1"/>
              <a:t>omogućava</a:t>
            </a:r>
            <a:r>
              <a:rPr lang="en-US" sz="1800" i="0" dirty="0"/>
              <a:t> da QR </a:t>
            </a:r>
            <a:r>
              <a:rPr lang="en-US" sz="1800" i="0" dirty="0" err="1"/>
              <a:t>ostane</a:t>
            </a:r>
            <a:r>
              <a:rPr lang="en-US" sz="1800" i="0" dirty="0"/>
              <a:t> </a:t>
            </a:r>
            <a:r>
              <a:rPr lang="en-US" sz="1800" i="0" dirty="0" err="1"/>
              <a:t>čitljiv</a:t>
            </a:r>
            <a:r>
              <a:rPr lang="en-US" sz="1800" i="0" dirty="0"/>
              <a:t> </a:t>
            </a:r>
            <a:r>
              <a:rPr lang="en-US" sz="1800" i="0" dirty="0" err="1"/>
              <a:t>nakon</a:t>
            </a:r>
            <a:r>
              <a:rPr lang="en-US" sz="1800" i="0" dirty="0"/>
              <a:t> LSB </a:t>
            </a:r>
            <a:r>
              <a:rPr lang="en-US" sz="1800" i="0" dirty="0" err="1"/>
              <a:t>izmena</a:t>
            </a:r>
            <a:r>
              <a:rPr lang="en-US" sz="1800" i="0" dirty="0"/>
              <a:t> </a:t>
            </a:r>
            <a:br>
              <a:rPr lang="en-US" sz="1800" i="0" dirty="0"/>
            </a:br>
            <a:endParaRPr lang="en-US" sz="1800" i="0" dirty="0"/>
          </a:p>
          <a:p>
            <a:pPr marL="384048" lvl="1"/>
            <a:r>
              <a:rPr lang="en-US" sz="1800" b="1" dirty="0"/>
              <a:t>SHA-256</a:t>
            </a:r>
            <a:br>
              <a:rPr lang="en-US" sz="1800" dirty="0"/>
            </a:br>
            <a:r>
              <a:rPr lang="en-US" sz="1800" i="0" dirty="0"/>
              <a:t>➝ </a:t>
            </a:r>
            <a:r>
              <a:rPr lang="en-US" sz="1800" i="0" dirty="0" err="1"/>
              <a:t>verifikuje</a:t>
            </a:r>
            <a:r>
              <a:rPr lang="en-US" sz="1800" i="0" dirty="0"/>
              <a:t> </a:t>
            </a:r>
            <a:r>
              <a:rPr lang="en-US" sz="1800" i="0" dirty="0" err="1"/>
              <a:t>integritet</a:t>
            </a:r>
            <a:r>
              <a:rPr lang="en-US" sz="1800" i="0" dirty="0"/>
              <a:t> </a:t>
            </a:r>
            <a:r>
              <a:rPr lang="en-US" sz="1800" i="0" dirty="0" err="1"/>
              <a:t>poruke</a:t>
            </a:r>
            <a:br>
              <a:rPr lang="en-US" sz="1800" i="0" dirty="0"/>
            </a:br>
            <a:r>
              <a:rPr lang="en-US" sz="1800" i="0" dirty="0"/>
              <a:t>➝ </a:t>
            </a:r>
            <a:r>
              <a:rPr lang="en-US" sz="1800" i="0" dirty="0" err="1"/>
              <a:t>detektuje</a:t>
            </a:r>
            <a:r>
              <a:rPr lang="en-US" sz="1800" i="0" dirty="0"/>
              <a:t> </a:t>
            </a:r>
            <a:r>
              <a:rPr lang="en-US" sz="1800" i="0" dirty="0" err="1"/>
              <a:t>bilo</a:t>
            </a:r>
            <a:r>
              <a:rPr lang="en-US" sz="1800" i="0" dirty="0"/>
              <a:t> </a:t>
            </a:r>
            <a:r>
              <a:rPr lang="en-US" sz="1800" i="0" dirty="0" err="1"/>
              <a:t>kakve</a:t>
            </a:r>
            <a:r>
              <a:rPr lang="en-US" sz="1800" i="0" dirty="0"/>
              <a:t> </a:t>
            </a:r>
            <a:r>
              <a:rPr lang="en-US" sz="1800" i="0" dirty="0" err="1"/>
              <a:t>izmene</a:t>
            </a:r>
            <a:r>
              <a:rPr lang="en-US" sz="1800" i="0" dirty="0"/>
              <a:t> </a:t>
            </a:r>
          </a:p>
          <a:p>
            <a:pPr>
              <a:buFont typeface="Franklin Gothic Book" panose="020B0503020102020204" pitchFamily="34" charset="0"/>
              <a:buNone/>
            </a:pPr>
            <a:endParaRPr lang="en-US" sz="1800" dirty="0"/>
          </a:p>
          <a:p>
            <a:pPr>
              <a:buFont typeface="Franklin Gothic Book" panose="020B0503020102020204" pitchFamily="34" charset="0"/>
              <a:buNone/>
            </a:pPr>
            <a:endParaRPr lang="en-US" sz="1800" dirty="0"/>
          </a:p>
          <a:p>
            <a:pPr marL="384048" lvl="1"/>
            <a:endParaRPr lang="en-US" sz="1800" i="0" dirty="0"/>
          </a:p>
        </p:txBody>
      </p:sp>
    </p:spTree>
    <p:extLst>
      <p:ext uri="{BB962C8B-B14F-4D97-AF65-F5344CB8AC3E}">
        <p14:creationId xmlns:p14="http://schemas.microsoft.com/office/powerpoint/2010/main" val="2902874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0D022-CA57-AEC9-7066-A8E37B98F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E728-B6BC-961B-CA2F-CA51852E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Funkcionalne celine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D0697F-69F8-6A69-EAA1-07DA7F8BFB3E}"/>
              </a:ext>
            </a:extLst>
          </p:cNvPr>
          <p:cNvSpPr txBox="1">
            <a:spLocks/>
          </p:cNvSpPr>
          <p:nvPr/>
        </p:nvSpPr>
        <p:spPr>
          <a:xfrm>
            <a:off x="1332703" y="1697467"/>
            <a:ext cx="42356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Payload </a:t>
            </a:r>
            <a:r>
              <a:rPr lang="en-US" dirty="0" err="1"/>
              <a:t>struktura</a:t>
            </a:r>
            <a:endParaRPr lang="en-US" dirty="0"/>
          </a:p>
          <a:p>
            <a:r>
              <a:rPr lang="en-US" dirty="0" err="1"/>
              <a:t>Generisanje</a:t>
            </a:r>
            <a:r>
              <a:rPr lang="en-US" dirty="0"/>
              <a:t> QR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ugrađivanje</a:t>
            </a:r>
            <a:r>
              <a:rPr lang="en-US" dirty="0"/>
              <a:t> </a:t>
            </a:r>
            <a:r>
              <a:rPr lang="en-US" dirty="0" err="1"/>
              <a:t>poruke</a:t>
            </a:r>
            <a:endParaRPr lang="en-US" dirty="0"/>
          </a:p>
          <a:p>
            <a:pPr marL="384048" lvl="1"/>
            <a:endParaRPr lang="en-US" i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A42AFE-82EC-00B6-B02F-888BC0856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356" y="1697467"/>
            <a:ext cx="6208308" cy="20021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890D56-ED5A-8261-AC55-CD0406E68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329" y="4076700"/>
            <a:ext cx="738433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41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B524A-84A8-37B9-C2D9-DDD0F90D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01F5B-C81B-3CD8-85EC-E8BFA2A9D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b="1"/>
              <a:t>Funkcionalne celine</a:t>
            </a:r>
            <a:endParaRPr lang="en-US" sz="41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A40170-6679-DF7F-1A11-97DDC69F854B}"/>
              </a:ext>
            </a:extLst>
          </p:cNvPr>
          <p:cNvSpPr txBox="1">
            <a:spLocks/>
          </p:cNvSpPr>
          <p:nvPr/>
        </p:nvSpPr>
        <p:spPr>
          <a:xfrm>
            <a:off x="1371600" y="2286000"/>
            <a:ext cx="3282694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Procena kapaciteta</a:t>
            </a:r>
          </a:p>
          <a:p>
            <a:r>
              <a:rPr lang="en-US"/>
              <a:t>Ugrađivanje poruke</a:t>
            </a:r>
          </a:p>
          <a:p>
            <a:pPr marL="384048" lvl="1"/>
            <a:endParaRPr lang="en-US" i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1E57DF-DA2C-C4DF-6321-9A3570AD1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851356"/>
            <a:ext cx="6517065" cy="2215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D2A8A8-9B0B-4C32-544E-EFA014216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408143"/>
            <a:ext cx="6097095" cy="9310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3EC29A-F9C8-F76F-E3A3-D9CBACD59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5472274"/>
            <a:ext cx="6793454" cy="92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73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BD265-C68E-5158-FBCF-20526338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1731-2D01-67B9-FE35-840A64EB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b="1"/>
              <a:t>Funkcionalne celine</a:t>
            </a:r>
            <a:endParaRPr lang="en-US" sz="41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08F49D-6CA4-92B3-75FD-557FC11F6D60}"/>
              </a:ext>
            </a:extLst>
          </p:cNvPr>
          <p:cNvSpPr txBox="1">
            <a:spLocks/>
          </p:cNvSpPr>
          <p:nvPr/>
        </p:nvSpPr>
        <p:spPr>
          <a:xfrm>
            <a:off x="1371600" y="2286000"/>
            <a:ext cx="3282694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Ekstrakcija i verifikacija poruke</a:t>
            </a:r>
          </a:p>
          <a:p>
            <a:r>
              <a:rPr lang="en-US"/>
              <a:t>Forenzička analiza</a:t>
            </a:r>
          </a:p>
          <a:p>
            <a:pPr>
              <a:buFont typeface="Franklin Gothic Book" panose="020B0503020102020204" pitchFamily="34" charset="0"/>
              <a:buNone/>
            </a:pPr>
            <a:endParaRPr lang="en-US"/>
          </a:p>
          <a:p>
            <a:pPr marL="384048" lvl="1"/>
            <a:endParaRPr lang="en-US" i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12986F-188D-038F-B2C3-BB6E05CA2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005" y="2493974"/>
            <a:ext cx="6253776" cy="7882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58F6C9-DE8B-D2CD-22E1-D8CACA800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647" y="1622687"/>
            <a:ext cx="5350135" cy="7470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43FC11-63BB-E4E6-D530-27773290C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4" y="3449657"/>
            <a:ext cx="6881487" cy="9756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D608D2-F835-FAAD-4A6F-AE633989D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177" y="4592790"/>
            <a:ext cx="6102275" cy="188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83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11C19-5B9D-02F2-2833-5D53FA7DE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02CC-6351-283C-8AE9-EC5874B9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713" y="1504739"/>
            <a:ext cx="6544251" cy="38485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/>
              <a:t>Rezultati i analiza</a:t>
            </a:r>
            <a:br>
              <a:rPr lang="en-US" sz="6600"/>
            </a:b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671722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7A273-B374-4CF1-F290-5E9E99ED6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29486-CA75-0478-0C6F-5D77C45D9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5101770" cy="1485900"/>
          </a:xfrm>
        </p:spPr>
        <p:txBody>
          <a:bodyPr>
            <a:normAutofit/>
          </a:bodyPr>
          <a:lstStyle/>
          <a:p>
            <a:r>
              <a:rPr lang="en-US" b="1" dirty="0"/>
              <a:t>Rezultati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analiza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4E8311-4373-9DA1-8087-4308D50C5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4854388" cy="3581400"/>
          </a:xfrm>
        </p:spPr>
        <p:txBody>
          <a:bodyPr>
            <a:normAutofit/>
          </a:bodyPr>
          <a:lstStyle/>
          <a:p>
            <a:r>
              <a:rPr lang="en-US" sz="1600" dirty="0" err="1"/>
              <a:t>Poruka</a:t>
            </a:r>
            <a:r>
              <a:rPr lang="en-US" sz="1600" dirty="0"/>
              <a:t>: </a:t>
            </a:r>
          </a:p>
          <a:p>
            <a:pPr lvl="1"/>
            <a:r>
              <a:rPr lang="en-US" sz="1600" i="1" dirty="0"/>
              <a:t>https://</a:t>
            </a:r>
            <a:r>
              <a:rPr lang="en-US" sz="1600" i="1" dirty="0" err="1"/>
              <a:t>www.elfak.ni.ac.rs</a:t>
            </a:r>
            <a:r>
              <a:rPr lang="en-US" sz="1600" i="1" dirty="0"/>
              <a:t>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D6398-BA88-7F1E-55C7-D576EC63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698" y="1521722"/>
            <a:ext cx="1299956" cy="1299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0FB3EA-6CBF-3CE8-8ED1-987DBA4E6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189" y="1521722"/>
            <a:ext cx="1299956" cy="129995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6E3274-A7FE-D3B6-CC12-C70058EC4FA0}"/>
              </a:ext>
            </a:extLst>
          </p:cNvPr>
          <p:cNvSpPr txBox="1">
            <a:spLocks/>
          </p:cNvSpPr>
          <p:nvPr/>
        </p:nvSpPr>
        <p:spPr>
          <a:xfrm>
            <a:off x="7462389" y="1925338"/>
            <a:ext cx="1328569" cy="849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i="1" dirty="0"/>
              <a:t>→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E8AF90-3446-5304-6077-F58DFC7E1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623" y="3237755"/>
            <a:ext cx="5952730" cy="29344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45D20F-E4ED-1155-5A55-4DC5CD8C50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164" y="1521722"/>
            <a:ext cx="1299956" cy="129995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A968664-CF6E-1DDD-1E45-F6A81A18DD44}"/>
              </a:ext>
            </a:extLst>
          </p:cNvPr>
          <p:cNvSpPr txBox="1">
            <a:spLocks/>
          </p:cNvSpPr>
          <p:nvPr/>
        </p:nvSpPr>
        <p:spPr>
          <a:xfrm>
            <a:off x="9776359" y="1925338"/>
            <a:ext cx="1328569" cy="849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i="1" dirty="0"/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915600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6C13B-B741-242A-8C52-B6B10BAE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B25F-5EE0-0A4D-B408-D0656E8BA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US" sz="4100" b="1"/>
              <a:t>Histogram LSB </a:t>
            </a:r>
            <a:r>
              <a:rPr lang="en-US" sz="4100" b="1" err="1"/>
              <a:t>vrednosti</a:t>
            </a:r>
            <a:endParaRPr lang="en-US" sz="41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8B612A-44A7-E10E-6D1A-E944F58D3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48" y="2286000"/>
            <a:ext cx="4347953" cy="3581400"/>
          </a:xfrm>
        </p:spPr>
        <p:txBody>
          <a:bodyPr>
            <a:noAutofit/>
          </a:bodyPr>
          <a:lstStyle/>
          <a:p>
            <a:r>
              <a:rPr lang="en-US" sz="1300" dirty="0" err="1"/>
              <a:t>Zapažanja</a:t>
            </a:r>
            <a:endParaRPr lang="en-US" sz="1300" dirty="0"/>
          </a:p>
          <a:p>
            <a:pPr lvl="1"/>
            <a:r>
              <a:rPr lang="en-US" sz="1300" i="0" dirty="0" err="1"/>
              <a:t>Više</a:t>
            </a:r>
            <a:r>
              <a:rPr lang="en-US" sz="1300" i="0" dirty="0"/>
              <a:t> LSB = 1 </a:t>
            </a:r>
            <a:r>
              <a:rPr lang="en-US" sz="1300" i="0" dirty="0" err="1"/>
              <a:t>nego</a:t>
            </a:r>
            <a:r>
              <a:rPr lang="en-US" sz="1300" i="0" dirty="0"/>
              <a:t> LSB = 0 </a:t>
            </a:r>
          </a:p>
          <a:p>
            <a:pPr lvl="1"/>
            <a:r>
              <a:rPr lang="en-US" sz="1300" i="0" dirty="0" err="1"/>
              <a:t>Uzrok</a:t>
            </a:r>
            <a:r>
              <a:rPr lang="en-US" sz="1300" i="0" dirty="0"/>
              <a:t>: </a:t>
            </a:r>
            <a:r>
              <a:rPr lang="en-US" sz="1300" i="0" dirty="0" err="1"/>
              <a:t>struktura</a:t>
            </a:r>
            <a:r>
              <a:rPr lang="en-US" sz="1300" i="0" dirty="0"/>
              <a:t> QR </a:t>
            </a:r>
            <a:r>
              <a:rPr lang="en-US" sz="1300" i="0" dirty="0" err="1"/>
              <a:t>koda</a:t>
            </a:r>
            <a:r>
              <a:rPr lang="en-US" sz="1300" i="0" dirty="0"/>
              <a:t>, ne </a:t>
            </a:r>
            <a:r>
              <a:rPr lang="en-US" sz="1300" i="0" dirty="0" err="1"/>
              <a:t>skriveni</a:t>
            </a:r>
            <a:r>
              <a:rPr lang="en-US" sz="1300" i="0" dirty="0"/>
              <a:t> </a:t>
            </a:r>
            <a:r>
              <a:rPr lang="en-US" sz="1300" i="0" dirty="0" err="1"/>
              <a:t>podaci</a:t>
            </a:r>
            <a:r>
              <a:rPr lang="en-US" sz="1300" i="0" dirty="0"/>
              <a:t> </a:t>
            </a:r>
          </a:p>
          <a:p>
            <a:pPr lvl="1"/>
            <a:r>
              <a:rPr lang="en-US" sz="1300" i="0" dirty="0" err="1"/>
              <a:t>Razlika</a:t>
            </a:r>
            <a:r>
              <a:rPr lang="en-US" sz="1300" i="0" dirty="0"/>
              <a:t> (original vs </a:t>
            </a:r>
            <a:r>
              <a:rPr lang="en-US" sz="1300" i="0" dirty="0" err="1"/>
              <a:t>stego</a:t>
            </a:r>
            <a:r>
              <a:rPr lang="en-US" sz="1300" i="0" dirty="0"/>
              <a:t>) = </a:t>
            </a:r>
            <a:r>
              <a:rPr lang="en-US" sz="1300" i="0" dirty="0" err="1"/>
              <a:t>minimalna</a:t>
            </a:r>
            <a:r>
              <a:rPr lang="en-US" sz="1300" i="0" dirty="0"/>
              <a:t> </a:t>
            </a:r>
          </a:p>
          <a:p>
            <a:r>
              <a:rPr lang="en-US" sz="1300" dirty="0"/>
              <a:t>Hi-</a:t>
            </a:r>
            <a:r>
              <a:rPr lang="en-US" sz="1300" dirty="0" err="1"/>
              <a:t>kvadrat</a:t>
            </a:r>
            <a:r>
              <a:rPr lang="en-US" sz="1300" dirty="0"/>
              <a:t> test</a:t>
            </a:r>
          </a:p>
          <a:p>
            <a:pPr lvl="1"/>
            <a:r>
              <a:rPr lang="en-US" sz="1300" i="0" dirty="0" err="1"/>
              <a:t>Visoke</a:t>
            </a:r>
            <a:r>
              <a:rPr lang="en-US" sz="1300" i="0" dirty="0"/>
              <a:t> </a:t>
            </a:r>
            <a:r>
              <a:rPr lang="en-US" sz="1300" i="0" dirty="0" err="1"/>
              <a:t>vrednosti</a:t>
            </a:r>
            <a:r>
              <a:rPr lang="en-US" sz="1300" i="0" dirty="0"/>
              <a:t> </a:t>
            </a:r>
            <a:r>
              <a:rPr lang="en-US" sz="1300" i="0" dirty="0" err="1"/>
              <a:t>kod</a:t>
            </a:r>
            <a:r>
              <a:rPr lang="en-US" sz="1300" i="0" dirty="0"/>
              <a:t> oba </a:t>
            </a:r>
            <a:r>
              <a:rPr lang="en-US" sz="1300" i="0" dirty="0" err="1"/>
              <a:t>koda</a:t>
            </a:r>
            <a:r>
              <a:rPr lang="en-US" sz="1300" i="0" dirty="0"/>
              <a:t> </a:t>
            </a:r>
          </a:p>
          <a:p>
            <a:pPr lvl="1"/>
            <a:r>
              <a:rPr lang="en-US" sz="1300" i="0" dirty="0" err="1"/>
              <a:t>Nepouzdan</a:t>
            </a:r>
            <a:r>
              <a:rPr lang="en-US" sz="1300" i="0" dirty="0"/>
              <a:t> za QR </a:t>
            </a:r>
            <a:r>
              <a:rPr lang="en-US" sz="1300" i="0" dirty="0" err="1"/>
              <a:t>kodove</a:t>
            </a:r>
            <a:r>
              <a:rPr lang="en-US" sz="1300" i="0" dirty="0"/>
              <a:t> </a:t>
            </a:r>
          </a:p>
          <a:p>
            <a:r>
              <a:rPr lang="en-US" sz="1300" dirty="0" err="1"/>
              <a:t>Zaključak</a:t>
            </a:r>
            <a:endParaRPr lang="en-US" sz="1300" dirty="0"/>
          </a:p>
          <a:p>
            <a:pPr lvl="1"/>
            <a:r>
              <a:rPr lang="en-US" sz="1300" i="0" dirty="0"/>
              <a:t>LSB </a:t>
            </a:r>
            <a:r>
              <a:rPr lang="en-US" sz="1300" i="0" dirty="0" err="1"/>
              <a:t>izmene</a:t>
            </a:r>
            <a:r>
              <a:rPr lang="en-US" sz="1300" i="0" dirty="0"/>
              <a:t> = </a:t>
            </a:r>
            <a:r>
              <a:rPr lang="en-US" sz="1300" i="0" dirty="0" err="1"/>
              <a:t>teško</a:t>
            </a:r>
            <a:r>
              <a:rPr lang="en-US" sz="1300" i="0" dirty="0"/>
              <a:t> </a:t>
            </a:r>
            <a:r>
              <a:rPr lang="en-US" sz="1300" i="0" dirty="0" err="1"/>
              <a:t>uočljive</a:t>
            </a:r>
            <a:endParaRPr lang="en-US" sz="1300" i="0" dirty="0"/>
          </a:p>
          <a:p>
            <a:pPr lvl="1"/>
            <a:r>
              <a:rPr lang="en-US" sz="1300" i="0" dirty="0"/>
              <a:t>QR </a:t>
            </a:r>
            <a:r>
              <a:rPr lang="en-US" sz="1300" i="0" dirty="0" err="1"/>
              <a:t>kod</a:t>
            </a:r>
            <a:r>
              <a:rPr lang="en-US" sz="1300" i="0" dirty="0"/>
              <a:t> = </a:t>
            </a:r>
            <a:r>
              <a:rPr lang="en-US" sz="1300" i="0" dirty="0" err="1"/>
              <a:t>pogodan</a:t>
            </a:r>
            <a:r>
              <a:rPr lang="en-US" sz="1300" i="0" dirty="0"/>
              <a:t> za </a:t>
            </a:r>
            <a:r>
              <a:rPr lang="en-US" sz="1300" i="0" dirty="0" err="1"/>
              <a:t>steganografiju</a:t>
            </a:r>
            <a:endParaRPr lang="en-US" sz="1300" i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8993C-221A-AE98-E201-6659E7EF9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501" y="2286000"/>
            <a:ext cx="6517065" cy="255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73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296F-B5F3-475C-ACF2-3C359C72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04B48-5351-E744-0D5B-D8DC47CF0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1480930"/>
            <a:ext cx="6498538" cy="38485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 err="1"/>
              <a:t>Zaključak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144730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D3195-39F9-0CA2-F858-594D96E9F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28D8-0505-1AA1-AADF-71E0FA24D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 err="1"/>
              <a:t>Zaključak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3D0AE-AD87-2A13-7C9F-5337214C9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10165138" cy="3581400"/>
          </a:xfrm>
        </p:spPr>
        <p:txBody>
          <a:bodyPr>
            <a:normAutofit/>
          </a:bodyPr>
          <a:lstStyle/>
          <a:p>
            <a:r>
              <a:rPr lang="en-US" dirty="0"/>
              <a:t>QR </a:t>
            </a:r>
            <a:r>
              <a:rPr lang="en-US" dirty="0" err="1"/>
              <a:t>kodovi</a:t>
            </a:r>
            <a:r>
              <a:rPr lang="en-US" dirty="0"/>
              <a:t> (</a:t>
            </a:r>
            <a:r>
              <a:rPr lang="en-US" dirty="0" err="1"/>
              <a:t>nivo</a:t>
            </a:r>
            <a:r>
              <a:rPr lang="en-US" dirty="0"/>
              <a:t> H)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pogodan</a:t>
            </a:r>
            <a:r>
              <a:rPr lang="en-US" dirty="0"/>
              <a:t> </a:t>
            </a:r>
            <a:r>
              <a:rPr lang="en-US" dirty="0" err="1"/>
              <a:t>nosač</a:t>
            </a:r>
            <a:r>
              <a:rPr lang="en-US" dirty="0"/>
              <a:t> za LSB </a:t>
            </a:r>
            <a:r>
              <a:rPr lang="en-US" dirty="0" err="1"/>
              <a:t>steganografiju</a:t>
            </a:r>
            <a:endParaRPr lang="en-US" dirty="0"/>
          </a:p>
          <a:p>
            <a:r>
              <a:rPr lang="en-US" dirty="0" err="1"/>
              <a:t>Skrivena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ostaje</a:t>
            </a:r>
            <a:r>
              <a:rPr lang="en-US" dirty="0"/>
              <a:t> </a:t>
            </a:r>
            <a:r>
              <a:rPr lang="en-US" dirty="0" err="1"/>
              <a:t>nevidljiva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funkcionalna</a:t>
            </a:r>
            <a:r>
              <a:rPr lang="en-US" dirty="0"/>
              <a:t> (&lt;0,23% </a:t>
            </a:r>
            <a:r>
              <a:rPr lang="en-US" dirty="0" err="1"/>
              <a:t>izmena</a:t>
            </a:r>
            <a:r>
              <a:rPr lang="en-US" dirty="0"/>
              <a:t>)</a:t>
            </a:r>
          </a:p>
          <a:p>
            <a:r>
              <a:rPr lang="en-US" dirty="0" err="1"/>
              <a:t>Detekcija</a:t>
            </a:r>
            <a:r>
              <a:rPr lang="en-US" dirty="0"/>
              <a:t> je </a:t>
            </a:r>
            <a:r>
              <a:rPr lang="en-US" dirty="0" err="1"/>
              <a:t>otežana</a:t>
            </a:r>
            <a:r>
              <a:rPr lang="en-US" dirty="0"/>
              <a:t>  → </a:t>
            </a:r>
            <a:r>
              <a:rPr lang="en-US" dirty="0" err="1"/>
              <a:t>potrebne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naprednije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steganalize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37467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2420</TotalTime>
  <Words>536</Words>
  <Application>Microsoft Macintosh PowerPoint</Application>
  <PresentationFormat>Widescreen</PresentationFormat>
  <Paragraphs>129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Franklin Gothic Book</vt:lpstr>
      <vt:lpstr>Crop</vt:lpstr>
      <vt:lpstr>STEGANOGRAFIJA U QR KODOVIMA </vt:lpstr>
      <vt:lpstr>Sadržaj</vt:lpstr>
      <vt:lpstr> Steganografija</vt:lpstr>
      <vt:lpstr>Definicija i podela</vt:lpstr>
      <vt:lpstr>Poređenje sa kriptografija i primena</vt:lpstr>
      <vt:lpstr>Qr kodovi</vt:lpstr>
      <vt:lpstr>QR</vt:lpstr>
      <vt:lpstr>LSB steganografija</vt:lpstr>
      <vt:lpstr>LSB STEGANOGRAFIJA</vt:lpstr>
      <vt:lpstr>Implementacija</vt:lpstr>
      <vt:lpstr>Tehnologije</vt:lpstr>
      <vt:lpstr>Ključni mehanizmi</vt:lpstr>
      <vt:lpstr>Funkcionalne celine</vt:lpstr>
      <vt:lpstr>Funkcionalne celine</vt:lpstr>
      <vt:lpstr>Funkcionalne celine</vt:lpstr>
      <vt:lpstr>Rezultati i analiza </vt:lpstr>
      <vt:lpstr>Rezultati i analiza</vt:lpstr>
      <vt:lpstr>Histogram LSB vrednosti</vt:lpstr>
      <vt:lpstr>Zaključak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Valcic</dc:creator>
  <cp:lastModifiedBy>Andrea Valcic</cp:lastModifiedBy>
  <cp:revision>76</cp:revision>
  <dcterms:created xsi:type="dcterms:W3CDTF">2026-01-28T08:57:32Z</dcterms:created>
  <dcterms:modified xsi:type="dcterms:W3CDTF">2026-04-22T11:09:29Z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629de7-cfdf-49f2-9483-80ca02e7fb52_Enabled">
    <vt:lpwstr>true</vt:lpwstr>
  </property>
  <property fmtid="{D5CDD505-2E9C-101B-9397-08002B2CF9AE}" pid="3" name="MSIP_Label_ac629de7-cfdf-49f2-9483-80ca02e7fb52_SetDate">
    <vt:lpwstr>2026-01-28T10:22:13Z</vt:lpwstr>
  </property>
  <property fmtid="{D5CDD505-2E9C-101B-9397-08002B2CF9AE}" pid="4" name="MSIP_Label_ac629de7-cfdf-49f2-9483-80ca02e7fb52_Method">
    <vt:lpwstr>Standard</vt:lpwstr>
  </property>
  <property fmtid="{D5CDD505-2E9C-101B-9397-08002B2CF9AE}" pid="5" name="MSIP_Label_ac629de7-cfdf-49f2-9483-80ca02e7fb52_Name">
    <vt:lpwstr>HTEC Internal</vt:lpwstr>
  </property>
  <property fmtid="{D5CDD505-2E9C-101B-9397-08002B2CF9AE}" pid="6" name="MSIP_Label_ac629de7-cfdf-49f2-9483-80ca02e7fb52_SiteId">
    <vt:lpwstr>9f85665b-7efd-4776-9dfe-b6bfda2565ee</vt:lpwstr>
  </property>
  <property fmtid="{D5CDD505-2E9C-101B-9397-08002B2CF9AE}" pid="7" name="MSIP_Label_ac629de7-cfdf-49f2-9483-80ca02e7fb52_ActionId">
    <vt:lpwstr>cee629b1-8fc4-41e1-941b-0ece0b63527b</vt:lpwstr>
  </property>
  <property fmtid="{D5CDD505-2E9C-101B-9397-08002B2CF9AE}" pid="8" name="MSIP_Label_ac629de7-cfdf-49f2-9483-80ca02e7fb52_ContentBits">
    <vt:lpwstr>1</vt:lpwstr>
  </property>
  <property fmtid="{D5CDD505-2E9C-101B-9397-08002B2CF9AE}" pid="9" name="MSIP_Label_ac629de7-cfdf-49f2-9483-80ca02e7fb52_Tag">
    <vt:lpwstr>50, 3, 0, 1</vt:lpwstr>
  </property>
  <property fmtid="{D5CDD505-2E9C-101B-9397-08002B2CF9AE}" pid="10" name="ClassificationContentMarkingHeaderLocations">
    <vt:lpwstr>Crop:8</vt:lpwstr>
  </property>
  <property fmtid="{D5CDD505-2E9C-101B-9397-08002B2CF9AE}" pid="11" name="ClassificationContentMarkingHeaderText">
    <vt:lpwstr>Proprietary</vt:lpwstr>
  </property>
</Properties>
</file>